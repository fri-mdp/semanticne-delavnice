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sldIdLst>
    <p:sldId id="663" r:id="rId2"/>
    <p:sldId id="713" r:id="rId3"/>
    <p:sldId id="666" r:id="rId4"/>
    <p:sldId id="714" r:id="rId5"/>
    <p:sldId id="715" r:id="rId6"/>
    <p:sldId id="667" r:id="rId7"/>
    <p:sldId id="674" r:id="rId8"/>
    <p:sldId id="675" r:id="rId9"/>
    <p:sldId id="676" r:id="rId10"/>
    <p:sldId id="677" r:id="rId11"/>
    <p:sldId id="678" r:id="rId12"/>
    <p:sldId id="702" r:id="rId13"/>
    <p:sldId id="703" r:id="rId14"/>
    <p:sldId id="704" r:id="rId15"/>
    <p:sldId id="705" r:id="rId16"/>
    <p:sldId id="682" r:id="rId17"/>
    <p:sldId id="683" r:id="rId18"/>
    <p:sldId id="684" r:id="rId19"/>
    <p:sldId id="685" r:id="rId20"/>
    <p:sldId id="686" r:id="rId21"/>
    <p:sldId id="687" r:id="rId22"/>
    <p:sldId id="706" r:id="rId23"/>
    <p:sldId id="689" r:id="rId24"/>
    <p:sldId id="707" r:id="rId25"/>
    <p:sldId id="708" r:id="rId26"/>
    <p:sldId id="692" r:id="rId27"/>
    <p:sldId id="709" r:id="rId28"/>
    <p:sldId id="710" r:id="rId29"/>
    <p:sldId id="711" r:id="rId30"/>
    <p:sldId id="716" r:id="rId31"/>
    <p:sldId id="712" r:id="rId32"/>
    <p:sldId id="698" r:id="rId33"/>
    <p:sldId id="717" r:id="rId34"/>
    <p:sldId id="718" r:id="rId35"/>
    <p:sldId id="719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ivzeti razdelek" id="{FDF3806B-ACA4-40DC-8EB7-3E3E83203184}">
          <p14:sldIdLst>
            <p14:sldId id="663"/>
            <p14:sldId id="713"/>
            <p14:sldId id="666"/>
            <p14:sldId id="714"/>
            <p14:sldId id="715"/>
            <p14:sldId id="667"/>
            <p14:sldId id="674"/>
            <p14:sldId id="675"/>
            <p14:sldId id="676"/>
            <p14:sldId id="677"/>
            <p14:sldId id="678"/>
            <p14:sldId id="702"/>
            <p14:sldId id="703"/>
            <p14:sldId id="704"/>
            <p14:sldId id="705"/>
            <p14:sldId id="682"/>
            <p14:sldId id="683"/>
            <p14:sldId id="684"/>
            <p14:sldId id="685"/>
            <p14:sldId id="686"/>
            <p14:sldId id="687"/>
            <p14:sldId id="706"/>
            <p14:sldId id="689"/>
            <p14:sldId id="707"/>
            <p14:sldId id="708"/>
            <p14:sldId id="692"/>
            <p14:sldId id="709"/>
            <p14:sldId id="710"/>
            <p14:sldId id="711"/>
            <p14:sldId id="716"/>
            <p14:sldId id="712"/>
            <p14:sldId id="698"/>
            <p14:sldId id="717"/>
            <p14:sldId id="718"/>
            <p14:sldId id="71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DB1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363" autoAdjust="0"/>
    <p:restoredTop sz="92740" autoAdjust="0"/>
  </p:normalViewPr>
  <p:slideViewPr>
    <p:cSldViewPr snapToGrid="0">
      <p:cViewPr varScale="1">
        <p:scale>
          <a:sx n="117" d="100"/>
          <a:sy n="117" d="100"/>
        </p:scale>
        <p:origin x="93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rika Škerlj" userId="f0f21cfbf36adbc0" providerId="LiveId" clId="{49A529F6-661B-4EB0-81A2-8820F06E52CE}"/>
    <pc:docChg chg="undo custSel addSld delSld modSld addSection delSection modSection">
      <pc:chgData name="Erika Škerlj" userId="f0f21cfbf36adbc0" providerId="LiveId" clId="{49A529F6-661B-4EB0-81A2-8820F06E52CE}" dt="2023-03-02T22:17:04.862" v="32" actId="2696"/>
      <pc:docMkLst>
        <pc:docMk/>
      </pc:docMkLst>
      <pc:sldChg chg="modSp mod modNotesTx">
        <pc:chgData name="Erika Škerlj" userId="f0f21cfbf36adbc0" providerId="LiveId" clId="{49A529F6-661B-4EB0-81A2-8820F06E52CE}" dt="2023-03-02T22:15:45.365" v="30" actId="34135"/>
        <pc:sldMkLst>
          <pc:docMk/>
          <pc:sldMk cId="141235532" sldId="256"/>
        </pc:sldMkLst>
        <pc:picChg chg="mod">
          <ac:chgData name="Erika Škerlj" userId="f0f21cfbf36adbc0" providerId="LiveId" clId="{49A529F6-661B-4EB0-81A2-8820F06E52CE}" dt="2023-03-02T22:15:45.365" v="30" actId="34135"/>
          <ac:picMkLst>
            <pc:docMk/>
            <pc:sldMk cId="141235532" sldId="256"/>
            <ac:picMk id="9" creationId="{E67B0BED-7E9F-CC40-0A96-1F619D507ADE}"/>
          </ac:picMkLst>
        </pc:picChg>
      </pc:sldChg>
      <pc:sldChg chg="modSp add del mod modShow">
        <pc:chgData name="Erika Škerlj" userId="f0f21cfbf36adbc0" providerId="LiveId" clId="{49A529F6-661B-4EB0-81A2-8820F06E52CE}" dt="2023-03-02T22:15:41.820" v="29" actId="34135"/>
        <pc:sldMkLst>
          <pc:docMk/>
          <pc:sldMk cId="1336695653" sldId="257"/>
        </pc:sldMkLst>
        <pc:picChg chg="mod">
          <ac:chgData name="Erika Škerlj" userId="f0f21cfbf36adbc0" providerId="LiveId" clId="{49A529F6-661B-4EB0-81A2-8820F06E52CE}" dt="2023-03-02T22:15:41.820" v="29" actId="34135"/>
          <ac:picMkLst>
            <pc:docMk/>
            <pc:sldMk cId="1336695653" sldId="257"/>
            <ac:picMk id="3" creationId="{1201AE74-D213-1A1F-264D-9AF48A07A8E1}"/>
          </ac:picMkLst>
        </pc:picChg>
      </pc:sldChg>
      <pc:sldChg chg="modSp del mod">
        <pc:chgData name="Erika Škerlj" userId="f0f21cfbf36adbc0" providerId="LiveId" clId="{49A529F6-661B-4EB0-81A2-8820F06E52CE}" dt="2023-03-02T22:17:04.862" v="32" actId="2696"/>
        <pc:sldMkLst>
          <pc:docMk/>
          <pc:sldMk cId="3949243539" sldId="258"/>
        </pc:sldMkLst>
        <pc:picChg chg="mod">
          <ac:chgData name="Erika Škerlj" userId="f0f21cfbf36adbc0" providerId="LiveId" clId="{49A529F6-661B-4EB0-81A2-8820F06E52CE}" dt="2023-03-02T22:15:48.584" v="31" actId="34135"/>
          <ac:picMkLst>
            <pc:docMk/>
            <pc:sldMk cId="3949243539" sldId="258"/>
            <ac:picMk id="3" creationId="{C86EACC3-30DD-9637-DD68-514D2BD89E27}"/>
          </ac:picMkLst>
        </pc:picChg>
      </pc:sldChg>
      <pc:sldChg chg="modSp mod">
        <pc:chgData name="Erika Škerlj" userId="f0f21cfbf36adbc0" providerId="LiveId" clId="{49A529F6-661B-4EB0-81A2-8820F06E52CE}" dt="2023-03-02T16:44:41.613" v="1" actId="34135"/>
        <pc:sldMkLst>
          <pc:docMk/>
          <pc:sldMk cId="3426516663" sldId="259"/>
        </pc:sldMkLst>
        <pc:picChg chg="mod">
          <ac:chgData name="Erika Škerlj" userId="f0f21cfbf36adbc0" providerId="LiveId" clId="{49A529F6-661B-4EB0-81A2-8820F06E52CE}" dt="2023-03-02T16:44:41.613" v="1" actId="34135"/>
          <ac:picMkLst>
            <pc:docMk/>
            <pc:sldMk cId="3426516663" sldId="259"/>
            <ac:picMk id="3" creationId="{5F9A775A-9E15-12DE-0736-43601BB46CEC}"/>
          </ac:picMkLst>
        </pc:picChg>
      </pc:sldChg>
      <pc:sldChg chg="del mod modShow">
        <pc:chgData name="Erika Škerlj" userId="f0f21cfbf36adbc0" providerId="LiveId" clId="{49A529F6-661B-4EB0-81A2-8820F06E52CE}" dt="2023-03-02T22:10:50.427" v="26" actId="2696"/>
        <pc:sldMkLst>
          <pc:docMk/>
          <pc:sldMk cId="113599178" sldId="260"/>
        </pc:sldMkLst>
      </pc:sldChg>
      <pc:sldChg chg="del mod modShow">
        <pc:chgData name="Erika Škerlj" userId="f0f21cfbf36adbc0" providerId="LiveId" clId="{49A529F6-661B-4EB0-81A2-8820F06E52CE}" dt="2023-03-02T22:10:47.332" v="25" actId="2696"/>
        <pc:sldMkLst>
          <pc:docMk/>
          <pc:sldMk cId="3370526052" sldId="261"/>
        </pc:sldMkLst>
      </pc:sldChg>
      <pc:sldChg chg="del">
        <pc:chgData name="Erika Škerlj" userId="f0f21cfbf36adbc0" providerId="LiveId" clId="{49A529F6-661B-4EB0-81A2-8820F06E52CE}" dt="2023-03-02T22:09:34.961" v="5" actId="2696"/>
        <pc:sldMkLst>
          <pc:docMk/>
          <pc:sldMk cId="879219718" sldId="262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glav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l-SI"/>
          </a:p>
        </p:txBody>
      </p:sp>
      <p:sp>
        <p:nvSpPr>
          <p:cNvPr id="3" name="Označba mesta datum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B26B60-5BB0-4DD7-8319-3C0CF3F89852}" type="datetimeFigureOut">
              <a:rPr lang="sl-SI" smtClean="0"/>
              <a:t>11. 2. 26</a:t>
            </a:fld>
            <a:endParaRPr lang="sl-SI"/>
          </a:p>
        </p:txBody>
      </p:sp>
      <p:sp>
        <p:nvSpPr>
          <p:cNvPr id="4" name="Označba mesta stranske slik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l-SI"/>
          </a:p>
        </p:txBody>
      </p:sp>
      <p:sp>
        <p:nvSpPr>
          <p:cNvPr id="5" name="Označba mesta opomb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6" name="Označba mesta no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l-SI"/>
          </a:p>
        </p:txBody>
      </p:sp>
      <p:sp>
        <p:nvSpPr>
          <p:cNvPr id="7" name="Označba mesta številke diapoz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70C311-8BB9-4E5A-8B7F-47C53035E144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6209937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l-SI" dirty="0" err="1"/>
              <a:t>Slide</a:t>
            </a:r>
            <a:r>
              <a:rPr lang="sl-SI" dirty="0"/>
              <a:t> za vsebino (</a:t>
            </a:r>
            <a:r>
              <a:rPr lang="sl-SI" dirty="0" err="1"/>
              <a:t>optional</a:t>
            </a:r>
            <a:r>
              <a:rPr lang="sl-SI" dirty="0"/>
              <a:t>)</a:t>
            </a:r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70C311-8BB9-4E5A-8B7F-47C53035E144}" type="slidenum">
              <a:rPr lang="sl-SI" smtClean="0"/>
              <a:t>1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158162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4E096-3E2D-629A-0F0E-CCD8C6843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>
            <a:extLst>
              <a:ext uri="{FF2B5EF4-FFF2-40B4-BE49-F238E27FC236}">
                <a16:creationId xmlns:a16="http://schemas.microsoft.com/office/drawing/2014/main" id="{E2DF7EF4-1E26-65FA-8351-73B6B6DE6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>
            <a:extLst>
              <a:ext uri="{FF2B5EF4-FFF2-40B4-BE49-F238E27FC236}">
                <a16:creationId xmlns:a16="http://schemas.microsoft.com/office/drawing/2014/main" id="{49FB86F0-8AB6-6081-7D5D-27E33F78FB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l-SI" dirty="0" err="1"/>
              <a:t>Slide</a:t>
            </a:r>
            <a:r>
              <a:rPr lang="sl-SI" dirty="0"/>
              <a:t> za vsebino (</a:t>
            </a:r>
            <a:r>
              <a:rPr lang="sl-SI" dirty="0" err="1"/>
              <a:t>optional</a:t>
            </a:r>
            <a:r>
              <a:rPr lang="sl-SI" dirty="0"/>
              <a:t>)</a:t>
            </a:r>
          </a:p>
        </p:txBody>
      </p:sp>
      <p:sp>
        <p:nvSpPr>
          <p:cNvPr id="4" name="Označba mesta številke diapozitiva 3">
            <a:extLst>
              <a:ext uri="{FF2B5EF4-FFF2-40B4-BE49-F238E27FC236}">
                <a16:creationId xmlns:a16="http://schemas.microsoft.com/office/drawing/2014/main" id="{6EBF349F-4526-4CB1-0DB2-726EBFED26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70C311-8BB9-4E5A-8B7F-47C53035E144}" type="slidenum">
              <a:rPr lang="sl-SI" smtClean="0"/>
              <a:t>2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28201399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l-SI" dirty="0" err="1"/>
              <a:t>Slide</a:t>
            </a:r>
            <a:r>
              <a:rPr lang="sl-SI" dirty="0"/>
              <a:t> za vsebino (</a:t>
            </a:r>
            <a:r>
              <a:rPr lang="sl-SI" dirty="0" err="1"/>
              <a:t>optional</a:t>
            </a:r>
            <a:r>
              <a:rPr lang="sl-SI" dirty="0"/>
              <a:t>)</a:t>
            </a:r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70C311-8BB9-4E5A-8B7F-47C53035E144}" type="slidenum">
              <a:rPr lang="sl-SI" smtClean="0"/>
              <a:t>3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158162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89D22-002E-7B63-9439-7254F150F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>
            <a:extLst>
              <a:ext uri="{FF2B5EF4-FFF2-40B4-BE49-F238E27FC236}">
                <a16:creationId xmlns:a16="http://schemas.microsoft.com/office/drawing/2014/main" id="{FA49AED0-B05B-A5BB-993A-59A11A7D16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>
            <a:extLst>
              <a:ext uri="{FF2B5EF4-FFF2-40B4-BE49-F238E27FC236}">
                <a16:creationId xmlns:a16="http://schemas.microsoft.com/office/drawing/2014/main" id="{FC8FFA3E-25FC-5A89-5BFE-A044340E1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l-SI" dirty="0" err="1"/>
              <a:t>Slide</a:t>
            </a:r>
            <a:r>
              <a:rPr lang="sl-SI" dirty="0"/>
              <a:t> za vsebino (</a:t>
            </a:r>
            <a:r>
              <a:rPr lang="sl-SI" dirty="0" err="1"/>
              <a:t>optional</a:t>
            </a:r>
            <a:r>
              <a:rPr lang="sl-SI" dirty="0"/>
              <a:t>)</a:t>
            </a:r>
          </a:p>
        </p:txBody>
      </p:sp>
      <p:sp>
        <p:nvSpPr>
          <p:cNvPr id="4" name="Označba mesta številke diapozitiva 3">
            <a:extLst>
              <a:ext uri="{FF2B5EF4-FFF2-40B4-BE49-F238E27FC236}">
                <a16:creationId xmlns:a16="http://schemas.microsoft.com/office/drawing/2014/main" id="{A0167A55-0C45-3BD1-5E77-D2E94D2E00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70C311-8BB9-4E5A-8B7F-47C53035E144}" type="slidenum">
              <a:rPr lang="sl-SI" smtClean="0"/>
              <a:t>4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29545010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4B50D-83C9-7758-1686-46EE6A678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>
            <a:extLst>
              <a:ext uri="{FF2B5EF4-FFF2-40B4-BE49-F238E27FC236}">
                <a16:creationId xmlns:a16="http://schemas.microsoft.com/office/drawing/2014/main" id="{C526D36D-5DC6-EC3D-F013-7AB06BB48B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>
            <a:extLst>
              <a:ext uri="{FF2B5EF4-FFF2-40B4-BE49-F238E27FC236}">
                <a16:creationId xmlns:a16="http://schemas.microsoft.com/office/drawing/2014/main" id="{B1157ACC-CDD3-8CBA-BABC-D7FD779709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l-SI" dirty="0" err="1"/>
              <a:t>Slide</a:t>
            </a:r>
            <a:r>
              <a:rPr lang="sl-SI" dirty="0"/>
              <a:t> za vsebino (</a:t>
            </a:r>
            <a:r>
              <a:rPr lang="sl-SI" dirty="0" err="1"/>
              <a:t>optional</a:t>
            </a:r>
            <a:r>
              <a:rPr lang="sl-SI" dirty="0"/>
              <a:t>)</a:t>
            </a:r>
          </a:p>
        </p:txBody>
      </p:sp>
      <p:sp>
        <p:nvSpPr>
          <p:cNvPr id="4" name="Označba mesta številke diapozitiva 3">
            <a:extLst>
              <a:ext uri="{FF2B5EF4-FFF2-40B4-BE49-F238E27FC236}">
                <a16:creationId xmlns:a16="http://schemas.microsoft.com/office/drawing/2014/main" id="{2394B89C-959B-5B55-0477-A9A1719D67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70C311-8BB9-4E5A-8B7F-47C53035E144}" type="slidenum">
              <a:rPr lang="sl-SI" smtClean="0"/>
              <a:t>5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23996569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l-SI" dirty="0" err="1"/>
              <a:t>Slide</a:t>
            </a:r>
            <a:r>
              <a:rPr lang="sl-SI" dirty="0"/>
              <a:t> za vsebino (</a:t>
            </a:r>
            <a:r>
              <a:rPr lang="sl-SI" dirty="0" err="1"/>
              <a:t>optional</a:t>
            </a:r>
            <a:r>
              <a:rPr lang="sl-SI" dirty="0"/>
              <a:t>)</a:t>
            </a:r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70C311-8BB9-4E5A-8B7F-47C53035E144}" type="slidenum">
              <a:rPr lang="sl-SI" smtClean="0"/>
              <a:t>6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8353370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l-SI" dirty="0" err="1"/>
              <a:t>Slide</a:t>
            </a:r>
            <a:r>
              <a:rPr lang="sl-SI" dirty="0"/>
              <a:t> za vsebino (</a:t>
            </a:r>
            <a:r>
              <a:rPr lang="sl-SI" dirty="0" err="1"/>
              <a:t>optional</a:t>
            </a:r>
            <a:r>
              <a:rPr lang="sl-SI" dirty="0"/>
              <a:t>)</a:t>
            </a:r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70C311-8BB9-4E5A-8B7F-47C53035E144}" type="slidenum">
              <a:rPr lang="sl-SI" smtClean="0"/>
              <a:t>7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12012759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l-SI" dirty="0" err="1"/>
              <a:t>Slide</a:t>
            </a:r>
            <a:r>
              <a:rPr lang="sl-SI" dirty="0"/>
              <a:t> za vsebino (</a:t>
            </a:r>
            <a:r>
              <a:rPr lang="sl-SI" dirty="0" err="1"/>
              <a:t>optional</a:t>
            </a:r>
            <a:r>
              <a:rPr lang="sl-SI" dirty="0"/>
              <a:t>)</a:t>
            </a:r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70C311-8BB9-4E5A-8B7F-47C53035E144}" type="slidenum">
              <a:rPr lang="sl-SI" smtClean="0"/>
              <a:t>8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12490400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l-SI" dirty="0" err="1"/>
              <a:t>Slide</a:t>
            </a:r>
            <a:r>
              <a:rPr lang="sl-SI" dirty="0"/>
              <a:t> za vsebino (</a:t>
            </a:r>
            <a:r>
              <a:rPr lang="sl-SI" dirty="0" err="1"/>
              <a:t>optional</a:t>
            </a:r>
            <a:r>
              <a:rPr lang="sl-SI" dirty="0"/>
              <a:t>)</a:t>
            </a:r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70C311-8BB9-4E5A-8B7F-47C53035E144}" type="slidenum">
              <a:rPr lang="sl-SI" smtClean="0"/>
              <a:t>9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25814278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l-SI" dirty="0" err="1"/>
              <a:t>Slide</a:t>
            </a:r>
            <a:r>
              <a:rPr lang="sl-SI" dirty="0"/>
              <a:t> za vsebino (</a:t>
            </a:r>
            <a:r>
              <a:rPr lang="sl-SI" dirty="0" err="1"/>
              <a:t>optional</a:t>
            </a:r>
            <a:r>
              <a:rPr lang="sl-SI" dirty="0"/>
              <a:t>)</a:t>
            </a:r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70C311-8BB9-4E5A-8B7F-47C53035E144}" type="slidenum">
              <a:rPr lang="sl-SI" smtClean="0"/>
              <a:t>10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8810994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l-SI" dirty="0" err="1"/>
              <a:t>Slide</a:t>
            </a:r>
            <a:r>
              <a:rPr lang="sl-SI" dirty="0"/>
              <a:t> za vsebino (</a:t>
            </a:r>
            <a:r>
              <a:rPr lang="sl-SI" dirty="0" err="1"/>
              <a:t>optional</a:t>
            </a:r>
            <a:r>
              <a:rPr lang="sl-SI" dirty="0"/>
              <a:t>)</a:t>
            </a:r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70C311-8BB9-4E5A-8B7F-47C53035E144}" type="slidenum">
              <a:rPr lang="sl-SI" smtClean="0"/>
              <a:t>11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76485158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l-SI" dirty="0" err="1"/>
              <a:t>Slide</a:t>
            </a:r>
            <a:r>
              <a:rPr lang="sl-SI" dirty="0"/>
              <a:t> za vsebino (</a:t>
            </a:r>
            <a:r>
              <a:rPr lang="sl-SI" dirty="0" err="1"/>
              <a:t>optional</a:t>
            </a:r>
            <a:r>
              <a:rPr lang="sl-SI" dirty="0"/>
              <a:t>)</a:t>
            </a:r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70C311-8BB9-4E5A-8B7F-47C53035E144}" type="slidenum">
              <a:rPr lang="sl-SI" smtClean="0"/>
              <a:t>12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86555851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l-SI" dirty="0" err="1"/>
              <a:t>Slide</a:t>
            </a:r>
            <a:r>
              <a:rPr lang="sl-SI" dirty="0"/>
              <a:t> za vsebino (</a:t>
            </a:r>
            <a:r>
              <a:rPr lang="sl-SI" dirty="0" err="1"/>
              <a:t>optional</a:t>
            </a:r>
            <a:r>
              <a:rPr lang="sl-SI" dirty="0"/>
              <a:t>)</a:t>
            </a:r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70C311-8BB9-4E5A-8B7F-47C53035E144}" type="slidenum">
              <a:rPr lang="sl-SI" smtClean="0"/>
              <a:t>13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27900964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l-SI" dirty="0" err="1"/>
              <a:t>Slide</a:t>
            </a:r>
            <a:r>
              <a:rPr lang="sl-SI" dirty="0"/>
              <a:t> za vsebino (</a:t>
            </a:r>
            <a:r>
              <a:rPr lang="sl-SI" dirty="0" err="1"/>
              <a:t>optional</a:t>
            </a:r>
            <a:r>
              <a:rPr lang="sl-SI" dirty="0"/>
              <a:t>)</a:t>
            </a:r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70C311-8BB9-4E5A-8B7F-47C53035E144}" type="slidenum">
              <a:rPr lang="sl-SI" smtClean="0"/>
              <a:t>14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93473599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l-SI" dirty="0" err="1"/>
              <a:t>Slide</a:t>
            </a:r>
            <a:r>
              <a:rPr lang="sl-SI" dirty="0"/>
              <a:t> za vsebino (</a:t>
            </a:r>
            <a:r>
              <a:rPr lang="sl-SI" dirty="0" err="1"/>
              <a:t>optional</a:t>
            </a:r>
            <a:r>
              <a:rPr lang="sl-SI" dirty="0"/>
              <a:t>)</a:t>
            </a:r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70C311-8BB9-4E5A-8B7F-47C53035E144}" type="slidenum">
              <a:rPr lang="sl-SI" smtClean="0"/>
              <a:t>15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58197027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l-SI" dirty="0" err="1"/>
              <a:t>Slide</a:t>
            </a:r>
            <a:r>
              <a:rPr lang="sl-SI" dirty="0"/>
              <a:t> za vsebino (</a:t>
            </a:r>
            <a:r>
              <a:rPr lang="sl-SI" dirty="0" err="1"/>
              <a:t>optional</a:t>
            </a:r>
            <a:r>
              <a:rPr lang="sl-SI" dirty="0"/>
              <a:t>)</a:t>
            </a:r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70C311-8BB9-4E5A-8B7F-47C53035E144}" type="slidenum">
              <a:rPr lang="sl-SI" smtClean="0"/>
              <a:t>16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42560904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l-SI" dirty="0" err="1"/>
              <a:t>Slide</a:t>
            </a:r>
            <a:r>
              <a:rPr lang="sl-SI" dirty="0"/>
              <a:t> za vsebino (</a:t>
            </a:r>
            <a:r>
              <a:rPr lang="sl-SI" dirty="0" err="1"/>
              <a:t>optional</a:t>
            </a:r>
            <a:r>
              <a:rPr lang="sl-SI" dirty="0"/>
              <a:t>)</a:t>
            </a:r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70C311-8BB9-4E5A-8B7F-47C53035E144}" type="slidenum">
              <a:rPr lang="sl-SI" smtClean="0"/>
              <a:t>17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235098994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l-SI" dirty="0" err="1"/>
              <a:t>Slide</a:t>
            </a:r>
            <a:r>
              <a:rPr lang="sl-SI" dirty="0"/>
              <a:t> za vsebino (</a:t>
            </a:r>
            <a:r>
              <a:rPr lang="sl-SI" dirty="0" err="1"/>
              <a:t>optional</a:t>
            </a:r>
            <a:r>
              <a:rPr lang="sl-SI" dirty="0"/>
              <a:t>)</a:t>
            </a:r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70C311-8BB9-4E5A-8B7F-47C53035E144}" type="slidenum">
              <a:rPr lang="sl-SI" smtClean="0"/>
              <a:t>18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10270412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l-SI" dirty="0" err="1"/>
              <a:t>Slide</a:t>
            </a:r>
            <a:r>
              <a:rPr lang="sl-SI" dirty="0"/>
              <a:t> za vsebino (</a:t>
            </a:r>
            <a:r>
              <a:rPr lang="sl-SI" dirty="0" err="1"/>
              <a:t>optional</a:t>
            </a:r>
            <a:r>
              <a:rPr lang="sl-SI" dirty="0"/>
              <a:t>)</a:t>
            </a:r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70C311-8BB9-4E5A-8B7F-47C53035E144}" type="slidenum">
              <a:rPr lang="sl-SI" smtClean="0"/>
              <a:t>19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176679485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l-SI" dirty="0" err="1"/>
              <a:t>Slide</a:t>
            </a:r>
            <a:r>
              <a:rPr lang="sl-SI" dirty="0"/>
              <a:t> za vsebino (</a:t>
            </a:r>
            <a:r>
              <a:rPr lang="sl-SI" dirty="0" err="1"/>
              <a:t>optional</a:t>
            </a:r>
            <a:r>
              <a:rPr lang="sl-SI" dirty="0"/>
              <a:t>)</a:t>
            </a:r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70C311-8BB9-4E5A-8B7F-47C53035E144}" type="slidenum">
              <a:rPr lang="sl-SI" smtClean="0"/>
              <a:t>20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89285655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l-SI" dirty="0" err="1"/>
              <a:t>Slide</a:t>
            </a:r>
            <a:r>
              <a:rPr lang="sl-SI" dirty="0"/>
              <a:t> za vsebino (</a:t>
            </a:r>
            <a:r>
              <a:rPr lang="sl-SI" dirty="0" err="1"/>
              <a:t>optional</a:t>
            </a:r>
            <a:r>
              <a:rPr lang="sl-SI" dirty="0"/>
              <a:t>)</a:t>
            </a:r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70C311-8BB9-4E5A-8B7F-47C53035E144}" type="slidenum">
              <a:rPr lang="sl-SI" smtClean="0"/>
              <a:t>21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27116818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l-SI" dirty="0" err="1"/>
              <a:t>Slide</a:t>
            </a:r>
            <a:r>
              <a:rPr lang="sl-SI" dirty="0"/>
              <a:t> za vsebino (</a:t>
            </a:r>
            <a:r>
              <a:rPr lang="sl-SI" dirty="0" err="1"/>
              <a:t>optional</a:t>
            </a:r>
            <a:r>
              <a:rPr lang="sl-SI" dirty="0"/>
              <a:t>)</a:t>
            </a:r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70C311-8BB9-4E5A-8B7F-47C53035E144}" type="slidenum">
              <a:rPr lang="sl-SI" smtClean="0"/>
              <a:t>22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0068734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l-SI" dirty="0" err="1"/>
              <a:t>Slide</a:t>
            </a:r>
            <a:r>
              <a:rPr lang="sl-SI" dirty="0"/>
              <a:t> za vsebino (</a:t>
            </a:r>
            <a:r>
              <a:rPr lang="sl-SI" dirty="0" err="1"/>
              <a:t>optional</a:t>
            </a:r>
            <a:r>
              <a:rPr lang="sl-SI" dirty="0"/>
              <a:t>)</a:t>
            </a:r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70C311-8BB9-4E5A-8B7F-47C53035E144}" type="slidenum">
              <a:rPr lang="sl-SI" smtClean="0"/>
              <a:t>23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212275585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l-SI" dirty="0" err="1"/>
              <a:t>Slide</a:t>
            </a:r>
            <a:r>
              <a:rPr lang="sl-SI" dirty="0"/>
              <a:t> za vsebino (</a:t>
            </a:r>
            <a:r>
              <a:rPr lang="sl-SI" dirty="0" err="1"/>
              <a:t>optional</a:t>
            </a:r>
            <a:r>
              <a:rPr lang="sl-SI" dirty="0"/>
              <a:t>)</a:t>
            </a:r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70C311-8BB9-4E5A-8B7F-47C53035E144}" type="slidenum">
              <a:rPr lang="sl-SI" smtClean="0"/>
              <a:t>24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167008491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l-SI" dirty="0" err="1"/>
              <a:t>Slide</a:t>
            </a:r>
            <a:r>
              <a:rPr lang="sl-SI" dirty="0"/>
              <a:t> za vsebino (</a:t>
            </a:r>
            <a:r>
              <a:rPr lang="sl-SI" dirty="0" err="1"/>
              <a:t>optional</a:t>
            </a:r>
            <a:r>
              <a:rPr lang="sl-SI" dirty="0"/>
              <a:t>)</a:t>
            </a:r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70C311-8BB9-4E5A-8B7F-47C53035E144}" type="slidenum">
              <a:rPr lang="sl-SI" smtClean="0"/>
              <a:t>25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204807104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l-SI" dirty="0" err="1"/>
              <a:t>Slide</a:t>
            </a:r>
            <a:r>
              <a:rPr lang="sl-SI" dirty="0"/>
              <a:t> za vsebino (</a:t>
            </a:r>
            <a:r>
              <a:rPr lang="sl-SI" dirty="0" err="1"/>
              <a:t>optional</a:t>
            </a:r>
            <a:r>
              <a:rPr lang="sl-SI" dirty="0"/>
              <a:t>)</a:t>
            </a:r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70C311-8BB9-4E5A-8B7F-47C53035E144}" type="slidenum">
              <a:rPr lang="sl-SI" smtClean="0"/>
              <a:t>26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129584003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l-SI" dirty="0" err="1"/>
              <a:t>Slide</a:t>
            </a:r>
            <a:r>
              <a:rPr lang="sl-SI" dirty="0"/>
              <a:t> za vsebino (</a:t>
            </a:r>
            <a:r>
              <a:rPr lang="sl-SI" dirty="0" err="1"/>
              <a:t>optional</a:t>
            </a:r>
            <a:r>
              <a:rPr lang="sl-SI" dirty="0"/>
              <a:t>)</a:t>
            </a:r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70C311-8BB9-4E5A-8B7F-47C53035E144}" type="slidenum">
              <a:rPr lang="sl-SI" smtClean="0"/>
              <a:t>27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37875887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l-SI" dirty="0" err="1"/>
              <a:t>Slide</a:t>
            </a:r>
            <a:r>
              <a:rPr lang="sl-SI" dirty="0"/>
              <a:t> za vsebino (</a:t>
            </a:r>
            <a:r>
              <a:rPr lang="sl-SI" dirty="0" err="1"/>
              <a:t>optional</a:t>
            </a:r>
            <a:r>
              <a:rPr lang="sl-SI" dirty="0"/>
              <a:t>)</a:t>
            </a:r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70C311-8BB9-4E5A-8B7F-47C53035E144}" type="slidenum">
              <a:rPr lang="sl-SI" smtClean="0"/>
              <a:t>28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244682885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l-SI" dirty="0" err="1"/>
              <a:t>Slide</a:t>
            </a:r>
            <a:r>
              <a:rPr lang="sl-SI" dirty="0"/>
              <a:t> za vsebino (</a:t>
            </a:r>
            <a:r>
              <a:rPr lang="sl-SI" dirty="0" err="1"/>
              <a:t>optional</a:t>
            </a:r>
            <a:r>
              <a:rPr lang="sl-SI" dirty="0"/>
              <a:t>)</a:t>
            </a:r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70C311-8BB9-4E5A-8B7F-47C53035E144}" type="slidenum">
              <a:rPr lang="sl-SI" smtClean="0"/>
              <a:t>29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70887212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0F14C8-B0B1-FE12-4613-0D4D7244D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>
            <a:extLst>
              <a:ext uri="{FF2B5EF4-FFF2-40B4-BE49-F238E27FC236}">
                <a16:creationId xmlns:a16="http://schemas.microsoft.com/office/drawing/2014/main" id="{8DBB5D36-16E7-2F31-21A3-CBC5CFC93C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>
            <a:extLst>
              <a:ext uri="{FF2B5EF4-FFF2-40B4-BE49-F238E27FC236}">
                <a16:creationId xmlns:a16="http://schemas.microsoft.com/office/drawing/2014/main" id="{049CC036-81F8-5CDD-D0BC-B56BED8BD2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l-SI" dirty="0" err="1"/>
              <a:t>Slide</a:t>
            </a:r>
            <a:r>
              <a:rPr lang="sl-SI" dirty="0"/>
              <a:t> za vsebino (</a:t>
            </a:r>
            <a:r>
              <a:rPr lang="sl-SI" dirty="0" err="1"/>
              <a:t>optional</a:t>
            </a:r>
            <a:r>
              <a:rPr lang="sl-SI" dirty="0"/>
              <a:t>)</a:t>
            </a:r>
          </a:p>
        </p:txBody>
      </p:sp>
      <p:sp>
        <p:nvSpPr>
          <p:cNvPr id="4" name="Označba mesta številke diapozitiva 3">
            <a:extLst>
              <a:ext uri="{FF2B5EF4-FFF2-40B4-BE49-F238E27FC236}">
                <a16:creationId xmlns:a16="http://schemas.microsoft.com/office/drawing/2014/main" id="{1B146C26-FB83-9F52-A792-75E76D67D0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70C311-8BB9-4E5A-8B7F-47C53035E144}" type="slidenum">
              <a:rPr lang="sl-SI" smtClean="0"/>
              <a:t>30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63475895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l-SI" dirty="0" err="1"/>
              <a:t>Slide</a:t>
            </a:r>
            <a:r>
              <a:rPr lang="sl-SI" dirty="0"/>
              <a:t> za vsebino (</a:t>
            </a:r>
            <a:r>
              <a:rPr lang="sl-SI" dirty="0" err="1"/>
              <a:t>optional</a:t>
            </a:r>
            <a:r>
              <a:rPr lang="sl-SI" dirty="0"/>
              <a:t>)</a:t>
            </a:r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70C311-8BB9-4E5A-8B7F-47C53035E144}" type="slidenum">
              <a:rPr lang="sl-SI" smtClean="0"/>
              <a:t>31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149414748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l-SI" dirty="0" err="1"/>
              <a:t>Slide</a:t>
            </a:r>
            <a:r>
              <a:rPr lang="sl-SI" dirty="0"/>
              <a:t> za vsebino (</a:t>
            </a:r>
            <a:r>
              <a:rPr lang="sl-SI" dirty="0" err="1"/>
              <a:t>optional</a:t>
            </a:r>
            <a:r>
              <a:rPr lang="sl-SI" dirty="0"/>
              <a:t>)</a:t>
            </a:r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70C311-8BB9-4E5A-8B7F-47C53035E144}" type="slidenum">
              <a:rPr lang="sl-SI" smtClean="0"/>
              <a:t>32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63377909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75F71-2651-C499-57E2-440B13A54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>
            <a:extLst>
              <a:ext uri="{FF2B5EF4-FFF2-40B4-BE49-F238E27FC236}">
                <a16:creationId xmlns:a16="http://schemas.microsoft.com/office/drawing/2014/main" id="{46710ED6-8573-A257-522A-9E6299A53D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>
            <a:extLst>
              <a:ext uri="{FF2B5EF4-FFF2-40B4-BE49-F238E27FC236}">
                <a16:creationId xmlns:a16="http://schemas.microsoft.com/office/drawing/2014/main" id="{705AC464-31B5-CE96-5211-FEDCB5DEF2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l-SI" dirty="0" err="1"/>
              <a:t>Slide</a:t>
            </a:r>
            <a:r>
              <a:rPr lang="sl-SI" dirty="0"/>
              <a:t> za vsebino (</a:t>
            </a:r>
            <a:r>
              <a:rPr lang="sl-SI" dirty="0" err="1"/>
              <a:t>optional</a:t>
            </a:r>
            <a:r>
              <a:rPr lang="sl-SI" dirty="0"/>
              <a:t>)</a:t>
            </a:r>
          </a:p>
        </p:txBody>
      </p:sp>
      <p:sp>
        <p:nvSpPr>
          <p:cNvPr id="4" name="Označba mesta številke diapozitiva 3">
            <a:extLst>
              <a:ext uri="{FF2B5EF4-FFF2-40B4-BE49-F238E27FC236}">
                <a16:creationId xmlns:a16="http://schemas.microsoft.com/office/drawing/2014/main" id="{4677AF85-024A-DCA6-32A8-BBA97BF06F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70C311-8BB9-4E5A-8B7F-47C53035E144}" type="slidenum">
              <a:rPr lang="sl-SI" smtClean="0"/>
              <a:t>33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0890399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8AFDA-FA0A-2766-808A-DA41A4B24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>
            <a:extLst>
              <a:ext uri="{FF2B5EF4-FFF2-40B4-BE49-F238E27FC236}">
                <a16:creationId xmlns:a16="http://schemas.microsoft.com/office/drawing/2014/main" id="{F5342080-24A9-DDA7-4E14-6FC7F62FCF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>
            <a:extLst>
              <a:ext uri="{FF2B5EF4-FFF2-40B4-BE49-F238E27FC236}">
                <a16:creationId xmlns:a16="http://schemas.microsoft.com/office/drawing/2014/main" id="{F4E2231E-0BAC-CD93-3E74-88A84F3DD7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l-SI" dirty="0" err="1"/>
              <a:t>Slide</a:t>
            </a:r>
            <a:r>
              <a:rPr lang="sl-SI" dirty="0"/>
              <a:t> za vsebino (</a:t>
            </a:r>
            <a:r>
              <a:rPr lang="sl-SI" dirty="0" err="1"/>
              <a:t>optional</a:t>
            </a:r>
            <a:r>
              <a:rPr lang="sl-SI" dirty="0"/>
              <a:t>)</a:t>
            </a:r>
          </a:p>
        </p:txBody>
      </p:sp>
      <p:sp>
        <p:nvSpPr>
          <p:cNvPr id="4" name="Označba mesta številke diapozitiva 3">
            <a:extLst>
              <a:ext uri="{FF2B5EF4-FFF2-40B4-BE49-F238E27FC236}">
                <a16:creationId xmlns:a16="http://schemas.microsoft.com/office/drawing/2014/main" id="{F66B2B82-AFB0-DEE3-7778-075BB1B11B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70C311-8BB9-4E5A-8B7F-47C53035E144}" type="slidenum">
              <a:rPr lang="sl-SI" smtClean="0"/>
              <a:t>34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86112507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76606-34FB-37F5-5EBC-355DD512B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>
            <a:extLst>
              <a:ext uri="{FF2B5EF4-FFF2-40B4-BE49-F238E27FC236}">
                <a16:creationId xmlns:a16="http://schemas.microsoft.com/office/drawing/2014/main" id="{5D112B35-6FF0-24BB-F42C-3F6B01B5E5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>
            <a:extLst>
              <a:ext uri="{FF2B5EF4-FFF2-40B4-BE49-F238E27FC236}">
                <a16:creationId xmlns:a16="http://schemas.microsoft.com/office/drawing/2014/main" id="{2A2A1A2F-7087-C7B4-1CA3-4573ADEF69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l-SI" dirty="0" err="1"/>
              <a:t>Slide</a:t>
            </a:r>
            <a:r>
              <a:rPr lang="sl-SI" dirty="0"/>
              <a:t> za vsebino (</a:t>
            </a:r>
            <a:r>
              <a:rPr lang="sl-SI" dirty="0" err="1"/>
              <a:t>optional</a:t>
            </a:r>
            <a:r>
              <a:rPr lang="sl-SI" dirty="0"/>
              <a:t>)</a:t>
            </a:r>
          </a:p>
        </p:txBody>
      </p:sp>
      <p:sp>
        <p:nvSpPr>
          <p:cNvPr id="4" name="Označba mesta številke diapozitiva 3">
            <a:extLst>
              <a:ext uri="{FF2B5EF4-FFF2-40B4-BE49-F238E27FC236}">
                <a16:creationId xmlns:a16="http://schemas.microsoft.com/office/drawing/2014/main" id="{77069B6B-A872-49A4-BFB8-542FD36C77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970C311-8BB9-4E5A-8B7F-47C53035E144}" type="slidenum">
              <a:rPr lang="sl-SI" smtClean="0"/>
              <a:t>35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11759735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436793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13453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889455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833955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17883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7995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0" r:id="rId4"/>
    <p:sldLayoutId id="2147483661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dbpedia.org/sparql" TargetMode="External"/><Relationship Id="rId4" Type="http://schemas.openxmlformats.org/officeDocument/2006/relationships/image" Target="../media/image7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.emf"/><Relationship Id="rId4" Type="http://schemas.openxmlformats.org/officeDocument/2006/relationships/hyperlink" Target="https://dbpedia.org/sparql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e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dbpedia.org/ontology/Company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dbpedia.org/ontology/Company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dbpedia.org/page/Audi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dbpedia.org/page/Audi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dbpedia.org/page/Audi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6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6FC433-D8DC-4010-E909-C79241349C2C}"/>
              </a:ext>
            </a:extLst>
          </p:cNvPr>
          <p:cNvSpPr txBox="1">
            <a:spLocks/>
          </p:cNvSpPr>
          <p:nvPr/>
        </p:nvSpPr>
        <p:spPr>
          <a:xfrm>
            <a:off x="610417" y="1073712"/>
            <a:ext cx="8301936" cy="277896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l-SI" sz="5400" b="1" dirty="0">
                <a:latin typeface="Public Sans SemiBold" pitchFamily="2" charset="77"/>
              </a:rPr>
              <a:t>Poizvedovanje nad </a:t>
            </a:r>
          </a:p>
          <a:p>
            <a:pPr marL="0" indent="0">
              <a:buNone/>
            </a:pPr>
            <a:r>
              <a:rPr lang="sl-SI" sz="5400" b="1" dirty="0">
                <a:latin typeface="Public Sans SemiBold" pitchFamily="2" charset="77"/>
              </a:rPr>
              <a:t>semantično opisanimi </a:t>
            </a:r>
          </a:p>
          <a:p>
            <a:pPr marL="0" indent="0">
              <a:buNone/>
            </a:pPr>
            <a:r>
              <a:rPr lang="sl-SI" sz="5400" b="1" dirty="0">
                <a:latin typeface="Public Sans SemiBold" pitchFamily="2" charset="77"/>
              </a:rPr>
              <a:t>podatki - SPARQL</a:t>
            </a:r>
            <a:endParaRPr lang="en-SI" sz="5400" b="1" dirty="0">
              <a:latin typeface="Public Sans SemiBold" pitchFamily="2" charset="77"/>
            </a:endParaRP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EA935360-F07A-2D37-BF8F-F48662DFE942}"/>
              </a:ext>
            </a:extLst>
          </p:cNvPr>
          <p:cNvSpPr txBox="1">
            <a:spLocks/>
          </p:cNvSpPr>
          <p:nvPr/>
        </p:nvSpPr>
        <p:spPr>
          <a:xfrm>
            <a:off x="4328160" y="6157776"/>
            <a:ext cx="7595615" cy="70022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sl-SI" sz="3200" dirty="0">
                <a:latin typeface="Public Sans SemiBold" pitchFamily="2" charset="77"/>
              </a:rPr>
              <a:t>Delavnica MDP, 12.2.2026</a:t>
            </a:r>
            <a:endParaRPr lang="en-SI" sz="3200" dirty="0">
              <a:latin typeface="Public Sans SemiBold" pitchFamily="2" charset="77"/>
            </a:endParaRPr>
          </a:p>
        </p:txBody>
      </p:sp>
      <p:sp>
        <p:nvSpPr>
          <p:cNvPr id="4" name="Text Placeholder 1">
            <a:extLst>
              <a:ext uri="{FF2B5EF4-FFF2-40B4-BE49-F238E27FC236}">
                <a16:creationId xmlns:a16="http://schemas.microsoft.com/office/drawing/2014/main" id="{30D6308F-A2F1-DA81-9FE0-003ECF0D2F88}"/>
              </a:ext>
            </a:extLst>
          </p:cNvPr>
          <p:cNvSpPr txBox="1">
            <a:spLocks/>
          </p:cNvSpPr>
          <p:nvPr/>
        </p:nvSpPr>
        <p:spPr>
          <a:xfrm>
            <a:off x="2017776" y="4481376"/>
            <a:ext cx="7595615" cy="70022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sl-SI" sz="3200" dirty="0">
                <a:latin typeface="Public Sans SemiBold" pitchFamily="2" charset="77"/>
              </a:rPr>
              <a:t>dr. Slavko Žitnik in dr. Dejan Lavbič</a:t>
            </a:r>
            <a:endParaRPr lang="en-SI" sz="3200" dirty="0">
              <a:latin typeface="Public Sans SemiBol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2843051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6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4ECCD2-835A-3675-85B1-4D488CB31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65B1945-0FF7-D317-FBA3-1A1945DCCA02}"/>
              </a:ext>
            </a:extLst>
          </p:cNvPr>
          <p:cNvSpPr txBox="1">
            <a:spLocks/>
          </p:cNvSpPr>
          <p:nvPr/>
        </p:nvSpPr>
        <p:spPr>
          <a:xfrm>
            <a:off x="25200" y="25200"/>
            <a:ext cx="11185451" cy="63353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SI" sz="3000" b="1" dirty="0">
                <a:latin typeface="Public Sans SemiBold" pitchFamily="2" charset="77"/>
              </a:rPr>
              <a:t>Semantic Web Stack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5210F10-0119-C84A-FB6A-33A3E46B6D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2617" y="698500"/>
            <a:ext cx="5003800" cy="546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94B9749-0A65-1A2F-161B-4055FE0B58C4}"/>
              </a:ext>
            </a:extLst>
          </p:cNvPr>
          <p:cNvSpPr/>
          <p:nvPr/>
        </p:nvSpPr>
        <p:spPr>
          <a:xfrm>
            <a:off x="5276017" y="3073807"/>
            <a:ext cx="1233047" cy="131743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I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70FE9B-12F5-922A-125E-D4186BA58711}"/>
              </a:ext>
            </a:extLst>
          </p:cNvPr>
          <p:cNvSpPr txBox="1"/>
          <p:nvPr/>
        </p:nvSpPr>
        <p:spPr>
          <a:xfrm>
            <a:off x="923285" y="2258199"/>
            <a:ext cx="4066079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>
                <a:latin typeface="Poppins" pitchFamily="2" charset="77"/>
                <a:cs typeface="Poppins" pitchFamily="2" charset="77"/>
              </a:rPr>
              <a:t>SPARQL 1.0 (2008)</a:t>
            </a:r>
          </a:p>
          <a:p>
            <a:endParaRPr lang="en-GB" sz="2000" dirty="0">
              <a:latin typeface="Poppins" pitchFamily="2" charset="77"/>
              <a:cs typeface="Poppins" pitchFamily="2" charset="77"/>
            </a:endParaRPr>
          </a:p>
          <a:p>
            <a:r>
              <a:rPr lang="en-GB" sz="2000" dirty="0">
                <a:latin typeface="Poppins" pitchFamily="2" charset="77"/>
                <a:cs typeface="Poppins" pitchFamily="2" charset="77"/>
              </a:rPr>
              <a:t>SPARQL 1.1 (2013)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GB" sz="2000" dirty="0">
              <a:latin typeface="Poppins" pitchFamily="2" charset="77"/>
              <a:cs typeface="Poppins" pitchFamily="2" charset="77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GB" sz="2000" dirty="0"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1155905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6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6FC433-D8DC-4010-E909-C79241349C2C}"/>
              </a:ext>
            </a:extLst>
          </p:cNvPr>
          <p:cNvSpPr txBox="1">
            <a:spLocks/>
          </p:cNvSpPr>
          <p:nvPr/>
        </p:nvSpPr>
        <p:spPr>
          <a:xfrm>
            <a:off x="25200" y="25200"/>
            <a:ext cx="11185451" cy="63353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SI" sz="3000" b="1" dirty="0">
                <a:latin typeface="Public Sans SemiBold" pitchFamily="2" charset="77"/>
              </a:rPr>
              <a:t>SPARQL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44E393-7040-91A6-1801-9BD46D16DFD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497" y="1884048"/>
            <a:ext cx="9412989" cy="3719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0372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6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2B847F-85D1-F0C6-141B-EA59883DE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AA11643-710E-C55B-797E-92D40D7614E9}"/>
              </a:ext>
            </a:extLst>
          </p:cNvPr>
          <p:cNvSpPr txBox="1">
            <a:spLocks/>
          </p:cNvSpPr>
          <p:nvPr/>
        </p:nvSpPr>
        <p:spPr>
          <a:xfrm>
            <a:off x="25200" y="25200"/>
            <a:ext cx="11185451" cy="63353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l-SI" sz="3000" b="1" dirty="0">
                <a:latin typeface="Public Sans SemiBold" pitchFamily="2" charset="77"/>
              </a:rPr>
              <a:t>Predstavitev CRP kot graf</a:t>
            </a:r>
            <a:endParaRPr lang="en-SI" sz="3000" b="1" dirty="0">
              <a:latin typeface="Public Sans SemiBold" pitchFamily="2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1C8FB0-0A45-E32C-52BD-4D57B72A4A83}"/>
              </a:ext>
            </a:extLst>
          </p:cNvPr>
          <p:cNvSpPr txBox="1"/>
          <p:nvPr/>
        </p:nvSpPr>
        <p:spPr>
          <a:xfrm>
            <a:off x="458234" y="1328153"/>
            <a:ext cx="1031938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###  https://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pzsi.sigov.si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datamodel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/ns/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crp#obc</a:t>
            </a:r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obc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rdf:type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owl:ObjectProperty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;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   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rdfs:domain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cnb:FizicnaOseba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;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   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rdfs:range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: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Obcina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BEDFBAA-A00F-EE32-3ADD-18CFDC9515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7893" y="3763176"/>
            <a:ext cx="7884504" cy="1426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8913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6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17CA7B-10CA-B3AC-0E15-AA9850550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5535211-9620-94FA-71A3-5F5ADF0CD04F}"/>
              </a:ext>
            </a:extLst>
          </p:cNvPr>
          <p:cNvSpPr txBox="1">
            <a:spLocks/>
          </p:cNvSpPr>
          <p:nvPr/>
        </p:nvSpPr>
        <p:spPr>
          <a:xfrm>
            <a:off x="25200" y="25200"/>
            <a:ext cx="11185451" cy="63353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l-SI" sz="3000" b="1" dirty="0">
                <a:latin typeface="Public Sans SemiBold" pitchFamily="2" charset="77"/>
              </a:rPr>
              <a:t>Širša predstavitev CRP v okolici specifičnega objekta</a:t>
            </a:r>
            <a:endParaRPr lang="en-SI" sz="3000" b="1" dirty="0">
              <a:latin typeface="Public Sans SemiBold" pitchFamily="2" charset="7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23B57B-60CD-0982-6A95-F9FC62BA2A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398" y="1814285"/>
            <a:ext cx="10417253" cy="4728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03418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6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6FC433-D8DC-4010-E909-C79241349C2C}"/>
              </a:ext>
            </a:extLst>
          </p:cNvPr>
          <p:cNvSpPr txBox="1">
            <a:spLocks/>
          </p:cNvSpPr>
          <p:nvPr/>
        </p:nvSpPr>
        <p:spPr>
          <a:xfrm>
            <a:off x="25200" y="25200"/>
            <a:ext cx="11185451" cy="63353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l-SI" sz="3000" b="1" dirty="0">
                <a:latin typeface="Public Sans SemiBold" pitchFamily="2" charset="77"/>
              </a:rPr>
              <a:t>Primer iz javnega grafa - DBPedia</a:t>
            </a:r>
            <a:endParaRPr lang="en-SI" sz="3000" b="1" dirty="0">
              <a:latin typeface="Public Sans SemiBold" pitchFamily="2" charset="77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E809AD0-6C95-805F-2B86-07B2A76DF2E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460" y="1032356"/>
            <a:ext cx="11762695" cy="5297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18780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6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B62D0C2-A342-CA4A-EB2F-4F054AE3115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796" y="1126436"/>
            <a:ext cx="11692407" cy="54672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06ECDA7-375D-7C35-FFD9-6DC15DD5FE7A}"/>
              </a:ext>
            </a:extLst>
          </p:cNvPr>
          <p:cNvSpPr txBox="1"/>
          <p:nvPr/>
        </p:nvSpPr>
        <p:spPr>
          <a:xfrm>
            <a:off x="7457668" y="5958220"/>
            <a:ext cx="43897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>
                <a:solidFill>
                  <a:srgbClr val="ADB1C4"/>
                </a:solidFill>
                <a:latin typeface="Poppins" pitchFamily="2" charset="77"/>
                <a:cs typeface="Poppins" pitchFamily="2" charset="7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https://dbpedia.org/sparql</a:t>
            </a:r>
            <a:r>
              <a:rPr lang="en-GB" sz="2000" dirty="0">
                <a:solidFill>
                  <a:srgbClr val="ADB1C4"/>
                </a:solidFill>
                <a:latin typeface="Poppins" pitchFamily="2" charset="77"/>
                <a:cs typeface="Poppins" pitchFamily="2" charset="77"/>
              </a:rPr>
              <a:t>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21FE3D-9C3B-FDAF-79B3-E973C38955FD}"/>
              </a:ext>
            </a:extLst>
          </p:cNvPr>
          <p:cNvSpPr/>
          <p:nvPr/>
        </p:nvSpPr>
        <p:spPr>
          <a:xfrm>
            <a:off x="249796" y="2186610"/>
            <a:ext cx="6773855" cy="1563756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I"/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2062E34B-653C-831D-9C0C-303A95D80D54}"/>
              </a:ext>
            </a:extLst>
          </p:cNvPr>
          <p:cNvSpPr txBox="1">
            <a:spLocks/>
          </p:cNvSpPr>
          <p:nvPr/>
        </p:nvSpPr>
        <p:spPr>
          <a:xfrm>
            <a:off x="25200" y="25200"/>
            <a:ext cx="11185451" cy="63353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SI" sz="3000" b="1" dirty="0">
                <a:latin typeface="Public Sans SemiBold" pitchFamily="2" charset="77"/>
              </a:rPr>
              <a:t>SPARQL</a:t>
            </a:r>
          </a:p>
        </p:txBody>
      </p:sp>
    </p:spTree>
    <p:extLst>
      <p:ext uri="{BB962C8B-B14F-4D97-AF65-F5344CB8AC3E}">
        <p14:creationId xmlns:p14="http://schemas.microsoft.com/office/powerpoint/2010/main" val="340114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6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6FC433-D8DC-4010-E909-C79241349C2C}"/>
              </a:ext>
            </a:extLst>
          </p:cNvPr>
          <p:cNvSpPr txBox="1">
            <a:spLocks/>
          </p:cNvSpPr>
          <p:nvPr/>
        </p:nvSpPr>
        <p:spPr>
          <a:xfrm>
            <a:off x="25200" y="25200"/>
            <a:ext cx="11185451" cy="63353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l-SI" sz="3000" b="1" dirty="0">
                <a:latin typeface="Public Sans SemiBold" pitchFamily="2" charset="77"/>
              </a:rPr>
              <a:t>Ujemanje vzorcev</a:t>
            </a:r>
            <a:endParaRPr lang="en-SI" sz="3000" b="1" dirty="0">
              <a:latin typeface="Public Sans SemiBold" pitchFamily="2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0E87BC-38C9-503B-2144-0CDDB3D2CCEF}"/>
              </a:ext>
            </a:extLst>
          </p:cNvPr>
          <p:cNvSpPr txBox="1"/>
          <p:nvPr/>
        </p:nvSpPr>
        <p:spPr>
          <a:xfrm>
            <a:off x="890234" y="1182231"/>
            <a:ext cx="103193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>
                <a:latin typeface="Poppins" pitchFamily="2" charset="77"/>
                <a:cs typeface="Poppins" pitchFamily="2" charset="77"/>
              </a:rPr>
              <a:t>SPARQL</a:t>
            </a:r>
          </a:p>
          <a:p>
            <a:pPr lvl="1"/>
            <a:r>
              <a:rPr lang="en-GB" sz="2000" dirty="0" err="1">
                <a:latin typeface="Poppins" pitchFamily="2" charset="77"/>
                <a:cs typeface="Poppins" pitchFamily="2" charset="77"/>
              </a:rPr>
              <a:t>Ujemanje</a:t>
            </a:r>
            <a:r>
              <a:rPr lang="en-GB" sz="2000" dirty="0">
                <a:latin typeface="Poppins" pitchFamily="2" charset="77"/>
                <a:cs typeface="Poppins" pitchFamily="2" charset="77"/>
              </a:rPr>
              <a:t> </a:t>
            </a:r>
            <a:r>
              <a:rPr lang="en-GB" sz="2000" dirty="0" err="1">
                <a:latin typeface="Poppins" pitchFamily="2" charset="77"/>
                <a:cs typeface="Poppins" pitchFamily="2" charset="77"/>
              </a:rPr>
              <a:t>trojčkov</a:t>
            </a:r>
            <a:r>
              <a:rPr lang="en-GB" sz="2000" dirty="0">
                <a:latin typeface="Poppins" pitchFamily="2" charset="77"/>
                <a:cs typeface="Poppins" pitchFamily="2" charset="77"/>
              </a:rPr>
              <a:t> – format Turtle</a:t>
            </a:r>
          </a:p>
          <a:p>
            <a:pPr lvl="1"/>
            <a:r>
              <a:rPr lang="en-GB" sz="2000" dirty="0" err="1">
                <a:latin typeface="Poppins" pitchFamily="2" charset="77"/>
                <a:cs typeface="Poppins" pitchFamily="2" charset="77"/>
              </a:rPr>
              <a:t>osnovno</a:t>
            </a:r>
            <a:r>
              <a:rPr lang="en-GB" sz="2000" dirty="0">
                <a:latin typeface="Poppins" pitchFamily="2" charset="77"/>
                <a:cs typeface="Poppins" pitchFamily="2" charset="77"/>
              </a:rPr>
              <a:t> </a:t>
            </a:r>
            <a:r>
              <a:rPr lang="en-GB" sz="2000" dirty="0" err="1">
                <a:latin typeface="Poppins" pitchFamily="2" charset="77"/>
                <a:cs typeface="Poppins" pitchFamily="2" charset="77"/>
              </a:rPr>
              <a:t>ujemanje</a:t>
            </a:r>
            <a:r>
              <a:rPr lang="en-GB" sz="2000" dirty="0">
                <a:latin typeface="Poppins" pitchFamily="2" charset="77"/>
                <a:cs typeface="Poppins" pitchFamily="2" charset="77"/>
              </a:rPr>
              <a:t> (s </a:t>
            </a:r>
            <a:r>
              <a:rPr lang="en-GB" sz="2000" dirty="0" err="1">
                <a:latin typeface="Poppins" pitchFamily="2" charset="77"/>
                <a:cs typeface="Poppins" pitchFamily="2" charset="77"/>
              </a:rPr>
              <a:t>spremenljivkami</a:t>
            </a:r>
            <a:r>
              <a:rPr lang="en-GB" sz="2000" dirty="0">
                <a:latin typeface="Poppins" pitchFamily="2" charset="77"/>
                <a:cs typeface="Poppins" pitchFamily="2" charset="77"/>
              </a:rPr>
              <a:t>)</a:t>
            </a:r>
          </a:p>
          <a:p>
            <a:r>
              <a:rPr lang="en-GB" sz="2000" dirty="0">
                <a:latin typeface="Poppins" pitchFamily="2" charset="77"/>
                <a:cs typeface="Poppins" pitchFamily="2" charset="77"/>
              </a:rPr>
              <a:t>Primer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GB" sz="2000" dirty="0">
              <a:latin typeface="Poppins" pitchFamily="2" charset="77"/>
              <a:cs typeface="Poppins" pitchFamily="2" charset="77"/>
            </a:endParaRPr>
          </a:p>
          <a:p>
            <a:pPr lvl="1"/>
            <a:r>
              <a:rPr lang="en-GB" sz="24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?subject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dbp:name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?object .</a:t>
            </a:r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C9C6E79-085D-7BB1-3DDF-0422F0D300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9330942"/>
              </p:ext>
            </p:extLst>
          </p:nvPr>
        </p:nvGraphicFramePr>
        <p:xfrm>
          <a:off x="1438639" y="3992257"/>
          <a:ext cx="5418666" cy="11887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360634846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6367957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SI" sz="2000" dirty="0">
                          <a:latin typeface="Poppins" pitchFamily="2" charset="77"/>
                          <a:cs typeface="Poppins" pitchFamily="2" charset="77"/>
                        </a:rPr>
                        <a:t>?subject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I" sz="2000" dirty="0">
                          <a:latin typeface="Poppins" pitchFamily="2" charset="77"/>
                          <a:cs typeface="Poppins" pitchFamily="2" charset="77"/>
                        </a:rPr>
                        <a:t>?object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7989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SI" sz="2000" dirty="0">
                          <a:latin typeface="Poppins" pitchFamily="2" charset="77"/>
                          <a:cs typeface="Poppins" pitchFamily="2" charset="77"/>
                        </a:rPr>
                        <a:t>dbr:August_Horch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I" sz="2000" dirty="0">
                          <a:latin typeface="Poppins" pitchFamily="2" charset="77"/>
                          <a:cs typeface="Poppins" pitchFamily="2" charset="77"/>
                        </a:rPr>
                        <a:t>“August Horch”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87121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SI" sz="2000" dirty="0">
                          <a:latin typeface="Poppins" pitchFamily="2" charset="77"/>
                          <a:cs typeface="Poppins" pitchFamily="2" charset="77"/>
                        </a:rPr>
                        <a:t>dbr:Audi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I" sz="2000" dirty="0">
                          <a:latin typeface="Poppins" pitchFamily="2" charset="77"/>
                          <a:cs typeface="Poppins" pitchFamily="2" charset="77"/>
                        </a:rPr>
                        <a:t>“Audi AG”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11718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236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6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409CAEA-478A-8ACF-DA29-1570274A72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146" y="2464905"/>
            <a:ext cx="11165708" cy="4220817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6FC433-D8DC-4010-E909-C79241349C2C}"/>
              </a:ext>
            </a:extLst>
          </p:cNvPr>
          <p:cNvSpPr txBox="1">
            <a:spLocks/>
          </p:cNvSpPr>
          <p:nvPr/>
        </p:nvSpPr>
        <p:spPr>
          <a:xfrm>
            <a:off x="25200" y="25200"/>
            <a:ext cx="11185451" cy="63353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l-SI" sz="3000" b="1" dirty="0">
                <a:latin typeface="Public Sans SemiBold" pitchFamily="2" charset="77"/>
              </a:rPr>
              <a:t>Ujemanje vzorcev</a:t>
            </a:r>
            <a:endParaRPr lang="en-SI" sz="3000" b="1" dirty="0">
              <a:latin typeface="Public Sans SemiBold" pitchFamily="2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0E87BC-38C9-503B-2144-0CDDB3D2CCEF}"/>
              </a:ext>
            </a:extLst>
          </p:cNvPr>
          <p:cNvSpPr txBox="1"/>
          <p:nvPr/>
        </p:nvSpPr>
        <p:spPr>
          <a:xfrm>
            <a:off x="513146" y="815162"/>
            <a:ext cx="1031938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>
                <a:latin typeface="Poppins" pitchFamily="2" charset="77"/>
                <a:cs typeface="Poppins" pitchFamily="2" charset="77"/>
              </a:rPr>
              <a:t>Primer </a:t>
            </a:r>
          </a:p>
          <a:p>
            <a:pPr lvl="1"/>
            <a:r>
              <a:rPr lang="en-GB" sz="2800" b="1" dirty="0">
                <a:solidFill>
                  <a:srgbClr val="C00000"/>
                </a:solidFill>
                <a:latin typeface="Public Sans SemiBold" pitchFamily="2" charset="77"/>
              </a:rPr>
              <a:t>	</a:t>
            </a:r>
            <a:r>
              <a:rPr lang="en-GB" sz="24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?subject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dbp:name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?object</a:t>
            </a:r>
            <a:r>
              <a:rPr lang="en-GB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.</a:t>
            </a:r>
            <a:endParaRPr lang="en-GB" sz="2400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C9C6E79-085D-7BB1-3DDF-0422F0D300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9127359"/>
              </p:ext>
            </p:extLst>
          </p:nvPr>
        </p:nvGraphicFramePr>
        <p:xfrm>
          <a:off x="3081908" y="2089020"/>
          <a:ext cx="5418666" cy="11887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360634846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6367957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SI" sz="2000" dirty="0">
                          <a:latin typeface="Poppins" pitchFamily="2" charset="77"/>
                          <a:cs typeface="Poppins" pitchFamily="2" charset="77"/>
                        </a:rPr>
                        <a:t>?subject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I" sz="2000" dirty="0">
                          <a:latin typeface="Poppins" pitchFamily="2" charset="77"/>
                          <a:cs typeface="Poppins" pitchFamily="2" charset="77"/>
                        </a:rPr>
                        <a:t>?object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7989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SI" sz="2000" dirty="0">
                          <a:latin typeface="Poppins" pitchFamily="2" charset="77"/>
                          <a:cs typeface="Poppins" pitchFamily="2" charset="77"/>
                        </a:rPr>
                        <a:t>dbr:August_Horch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I" sz="2000" dirty="0">
                          <a:latin typeface="Poppins" pitchFamily="2" charset="77"/>
                          <a:cs typeface="Poppins" pitchFamily="2" charset="77"/>
                        </a:rPr>
                        <a:t>“August Horch”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87121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SI" sz="2000" dirty="0">
                          <a:latin typeface="Poppins" pitchFamily="2" charset="77"/>
                          <a:cs typeface="Poppins" pitchFamily="2" charset="77"/>
                        </a:rPr>
                        <a:t>dbr:Audi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I" sz="2000" dirty="0">
                          <a:latin typeface="Poppins" pitchFamily="2" charset="77"/>
                          <a:cs typeface="Poppins" pitchFamily="2" charset="77"/>
                        </a:rPr>
                        <a:t>“Audi AG”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11718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71884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6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6FC433-D8DC-4010-E909-C79241349C2C}"/>
              </a:ext>
            </a:extLst>
          </p:cNvPr>
          <p:cNvSpPr txBox="1">
            <a:spLocks/>
          </p:cNvSpPr>
          <p:nvPr/>
        </p:nvSpPr>
        <p:spPr>
          <a:xfrm>
            <a:off x="25200" y="25200"/>
            <a:ext cx="11185451" cy="63353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l-SI" sz="3000" b="1" dirty="0">
                <a:latin typeface="Public Sans SemiBold" pitchFamily="2" charset="77"/>
              </a:rPr>
              <a:t>Konjunkcija posameznih vzorcev</a:t>
            </a:r>
            <a:endParaRPr lang="en-SI" sz="3000" b="1" dirty="0">
              <a:latin typeface="Public Sans SemiBold" pitchFamily="2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0E87BC-38C9-503B-2144-0CDDB3D2CCEF}"/>
              </a:ext>
            </a:extLst>
          </p:cNvPr>
          <p:cNvSpPr txBox="1"/>
          <p:nvPr/>
        </p:nvSpPr>
        <p:spPr>
          <a:xfrm>
            <a:off x="744460" y="1142474"/>
            <a:ext cx="1031938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>
                <a:latin typeface="Poppins" pitchFamily="2" charset="77"/>
                <a:cs typeface="Poppins" pitchFamily="2" charset="77"/>
              </a:rPr>
              <a:t>Primer </a:t>
            </a:r>
          </a:p>
          <a:p>
            <a:pPr lvl="1"/>
            <a:r>
              <a:rPr lang="en-GB" sz="2800" b="1" dirty="0">
                <a:solidFill>
                  <a:srgbClr val="C00000"/>
                </a:solidFill>
                <a:latin typeface="Public Sans SemiBold" pitchFamily="2" charset="77"/>
              </a:rPr>
              <a:t>	</a:t>
            </a:r>
            <a:r>
              <a:rPr lang="en-GB" sz="24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?subject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dbp:name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?name .</a:t>
            </a:r>
          </a:p>
          <a:p>
            <a:pPr lvl="1"/>
            <a:r>
              <a:rPr lang="en-GB" sz="24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?subject </a:t>
            </a:r>
            <a:r>
              <a:rPr lang="en-GB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rdf:type</a:t>
            </a:r>
            <a:r>
              <a:rPr lang="en-GB" sz="24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dbo:Company</a:t>
            </a:r>
            <a:r>
              <a:rPr lang="en-GB" sz="24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.</a:t>
            </a:r>
          </a:p>
          <a:p>
            <a:pPr lvl="1"/>
            <a:r>
              <a:rPr lang="en-GB" sz="24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?subject </a:t>
            </a:r>
            <a:r>
              <a:rPr lang="en-GB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dbo:foundingYear</a:t>
            </a:r>
            <a:r>
              <a:rPr lang="en-GB" sz="24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?</a:t>
            </a:r>
            <a:r>
              <a:rPr lang="en-GB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foundingYear</a:t>
            </a:r>
            <a:r>
              <a:rPr lang="en-GB" sz="24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.</a:t>
            </a:r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C9C6E79-085D-7BB1-3DDF-0422F0D300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0808561"/>
              </p:ext>
            </p:extLst>
          </p:nvPr>
        </p:nvGraphicFramePr>
        <p:xfrm>
          <a:off x="6339681" y="691332"/>
          <a:ext cx="487097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191114">
                  <a:extLst>
                    <a:ext uri="{9D8B030D-6E8A-4147-A177-3AD203B41FA5}">
                      <a16:colId xmlns:a16="http://schemas.microsoft.com/office/drawing/2014/main" val="360634846"/>
                    </a:ext>
                  </a:extLst>
                </a:gridCol>
                <a:gridCol w="1383625">
                  <a:extLst>
                    <a:ext uri="{9D8B030D-6E8A-4147-A177-3AD203B41FA5}">
                      <a16:colId xmlns:a16="http://schemas.microsoft.com/office/drawing/2014/main" val="3636795770"/>
                    </a:ext>
                  </a:extLst>
                </a:gridCol>
                <a:gridCol w="2296231">
                  <a:extLst>
                    <a:ext uri="{9D8B030D-6E8A-4147-A177-3AD203B41FA5}">
                      <a16:colId xmlns:a16="http://schemas.microsoft.com/office/drawing/2014/main" val="34460350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SI" dirty="0">
                          <a:latin typeface="Poppins" pitchFamily="2" charset="77"/>
                          <a:cs typeface="Poppins" pitchFamily="2" charset="77"/>
                        </a:rPr>
                        <a:t>?subject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I" dirty="0">
                          <a:latin typeface="Poppins" pitchFamily="2" charset="77"/>
                          <a:cs typeface="Poppins" pitchFamily="2" charset="77"/>
                        </a:rPr>
                        <a:t>?name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I" dirty="0">
                          <a:latin typeface="Poppins" pitchFamily="2" charset="77"/>
                          <a:cs typeface="Poppins" pitchFamily="2" charset="77"/>
                        </a:rPr>
                        <a:t>?foundingYear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7989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SI" dirty="0">
                          <a:latin typeface="Poppins" pitchFamily="2" charset="77"/>
                          <a:cs typeface="Poppins" pitchFamily="2" charset="77"/>
                        </a:rPr>
                        <a:t>dbr:Audi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I" dirty="0">
                          <a:latin typeface="Poppins" pitchFamily="2" charset="77"/>
                          <a:cs typeface="Poppins" pitchFamily="2" charset="77"/>
                        </a:rPr>
                        <a:t>“Audi AG”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I" dirty="0">
                          <a:latin typeface="Poppins" pitchFamily="2" charset="77"/>
                          <a:cs typeface="Poppins" pitchFamily="2" charset="77"/>
                        </a:rPr>
                        <a:t>1910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1171851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67A21E78-1D25-BCF6-7304-66C11FB186E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536" y="2865591"/>
            <a:ext cx="10290927" cy="3890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17503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6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6FC433-D8DC-4010-E909-C79241349C2C}"/>
              </a:ext>
            </a:extLst>
          </p:cNvPr>
          <p:cNvSpPr txBox="1">
            <a:spLocks/>
          </p:cNvSpPr>
          <p:nvPr/>
        </p:nvSpPr>
        <p:spPr>
          <a:xfrm>
            <a:off x="25200" y="25200"/>
            <a:ext cx="11185451" cy="63353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l-SI" sz="3000" b="1" dirty="0">
                <a:latin typeface="Public Sans SemiBold" pitchFamily="2" charset="77"/>
              </a:rPr>
              <a:t>Poizvedba </a:t>
            </a:r>
            <a:r>
              <a:rPr lang="en-SI" sz="3000" b="1">
                <a:latin typeface="Public Sans SemiBold" pitchFamily="2" charset="77"/>
              </a:rPr>
              <a:t>SPARQL</a:t>
            </a:r>
            <a:endParaRPr lang="en-SI" sz="3000" b="1" dirty="0">
              <a:latin typeface="Public Sans SemiBold" pitchFamily="2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0E87BC-38C9-503B-2144-0CDDB3D2CCEF}"/>
              </a:ext>
            </a:extLst>
          </p:cNvPr>
          <p:cNvSpPr txBox="1"/>
          <p:nvPr/>
        </p:nvSpPr>
        <p:spPr>
          <a:xfrm>
            <a:off x="147052" y="982176"/>
            <a:ext cx="10319381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rdf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&lt;http://www.w3.org/1999/02/22-rdf-syntax-ns#&gt;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/property/&gt;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/ontology/&gt;</a:t>
            </a: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SELECT ?name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foundingYear</a:t>
            </a:r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FROM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/&gt;</a:t>
            </a: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WHERE {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	?subject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dbp:name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?name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	?subject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rdf:type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dbo:Company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	?subject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dbo:foundingYear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foundingYear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173703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6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6FC433-D8DC-4010-E909-C79241349C2C}"/>
              </a:ext>
            </a:extLst>
          </p:cNvPr>
          <p:cNvSpPr txBox="1">
            <a:spLocks/>
          </p:cNvSpPr>
          <p:nvPr/>
        </p:nvSpPr>
        <p:spPr>
          <a:xfrm>
            <a:off x="25200" y="25200"/>
            <a:ext cx="11185451" cy="63353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l-SI" sz="3000" b="1" dirty="0">
                <a:latin typeface="Public Sans SemiBold" pitchFamily="2" charset="77"/>
              </a:rPr>
              <a:t>Poizvedba </a:t>
            </a:r>
            <a:r>
              <a:rPr lang="en-SI" sz="3000" b="1">
                <a:latin typeface="Public Sans SemiBold" pitchFamily="2" charset="77"/>
              </a:rPr>
              <a:t>SPARQL</a:t>
            </a:r>
            <a:endParaRPr lang="en-SI" sz="3000" b="1" dirty="0">
              <a:latin typeface="Public Sans SemiBold" pitchFamily="2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0E87BC-38C9-503B-2144-0CDDB3D2CCEF}"/>
              </a:ext>
            </a:extLst>
          </p:cNvPr>
          <p:cNvSpPr txBox="1"/>
          <p:nvPr/>
        </p:nvSpPr>
        <p:spPr>
          <a:xfrm>
            <a:off x="147052" y="982176"/>
            <a:ext cx="10319381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rdf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&lt;http://www.w3.org/1999/02/22-rdf-syntax-ns#&gt;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/property/&gt;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/ontology/&gt;</a:t>
            </a: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SELECT ?name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foundingYear</a:t>
            </a:r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FROM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/&gt;</a:t>
            </a: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WHERE {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	?subject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dbp:name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?name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	?subject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rdf:type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dbo:Company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	?subject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dbo:foundingYear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foundingYear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776C03-B6FA-D4C2-F879-605EA967C5ED}"/>
              </a:ext>
            </a:extLst>
          </p:cNvPr>
          <p:cNvSpPr/>
          <p:nvPr/>
        </p:nvSpPr>
        <p:spPr>
          <a:xfrm>
            <a:off x="147052" y="982176"/>
            <a:ext cx="9830775" cy="1269422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I"/>
          </a:p>
        </p:txBody>
      </p:sp>
    </p:spTree>
    <p:extLst>
      <p:ext uri="{BB962C8B-B14F-4D97-AF65-F5344CB8AC3E}">
        <p14:creationId xmlns:p14="http://schemas.microsoft.com/office/powerpoint/2010/main" val="15256718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6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6FC433-D8DC-4010-E909-C79241349C2C}"/>
              </a:ext>
            </a:extLst>
          </p:cNvPr>
          <p:cNvSpPr txBox="1">
            <a:spLocks/>
          </p:cNvSpPr>
          <p:nvPr/>
        </p:nvSpPr>
        <p:spPr>
          <a:xfrm>
            <a:off x="25200" y="25200"/>
            <a:ext cx="11185451" cy="63353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l-SI" sz="3000" b="1" dirty="0">
                <a:latin typeface="Public Sans SemiBold" pitchFamily="2" charset="77"/>
              </a:rPr>
              <a:t>Poizvedba </a:t>
            </a:r>
            <a:r>
              <a:rPr lang="en-SI" sz="3000" b="1">
                <a:latin typeface="Public Sans SemiBold" pitchFamily="2" charset="77"/>
              </a:rPr>
              <a:t>SPARQL</a:t>
            </a:r>
            <a:endParaRPr lang="en-SI" sz="3000" b="1" dirty="0">
              <a:latin typeface="Public Sans SemiBold" pitchFamily="2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0E87BC-38C9-503B-2144-0CDDB3D2CCEF}"/>
              </a:ext>
            </a:extLst>
          </p:cNvPr>
          <p:cNvSpPr txBox="1"/>
          <p:nvPr/>
        </p:nvSpPr>
        <p:spPr>
          <a:xfrm>
            <a:off x="147052" y="982176"/>
            <a:ext cx="10319381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rdf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&lt;http://www.w3.org/1999/02/22-rdf-syntax-ns#&gt;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/property/&gt;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/ontology/&gt;</a:t>
            </a: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SELECT ?name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foundingYear</a:t>
            </a:r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FROM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/&gt;</a:t>
            </a: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WHERE {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	?subject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dbp:name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?name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	?subject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rdf:type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dbo:Company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	?subject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dbo:foundingYear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foundingYear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776C03-B6FA-D4C2-F879-605EA967C5ED}"/>
              </a:ext>
            </a:extLst>
          </p:cNvPr>
          <p:cNvSpPr/>
          <p:nvPr/>
        </p:nvSpPr>
        <p:spPr>
          <a:xfrm>
            <a:off x="147052" y="2408640"/>
            <a:ext cx="9830775" cy="590592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I"/>
          </a:p>
        </p:txBody>
      </p:sp>
    </p:spTree>
    <p:extLst>
      <p:ext uri="{BB962C8B-B14F-4D97-AF65-F5344CB8AC3E}">
        <p14:creationId xmlns:p14="http://schemas.microsoft.com/office/powerpoint/2010/main" val="15154571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6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6FC433-D8DC-4010-E909-C79241349C2C}"/>
              </a:ext>
            </a:extLst>
          </p:cNvPr>
          <p:cNvSpPr txBox="1">
            <a:spLocks/>
          </p:cNvSpPr>
          <p:nvPr/>
        </p:nvSpPr>
        <p:spPr>
          <a:xfrm>
            <a:off x="25200" y="25200"/>
            <a:ext cx="11185451" cy="63353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l-SI" sz="3000" b="1" dirty="0">
                <a:latin typeface="Public Sans SemiBold" pitchFamily="2" charset="77"/>
              </a:rPr>
              <a:t>Poizvedba </a:t>
            </a:r>
            <a:r>
              <a:rPr lang="en-SI" sz="3000" b="1">
                <a:latin typeface="Public Sans SemiBold" pitchFamily="2" charset="77"/>
              </a:rPr>
              <a:t>SPARQL</a:t>
            </a:r>
            <a:endParaRPr lang="en-SI" sz="3000" b="1" dirty="0">
              <a:latin typeface="Public Sans SemiBold" pitchFamily="2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0E87BC-38C9-503B-2144-0CDDB3D2CCEF}"/>
              </a:ext>
            </a:extLst>
          </p:cNvPr>
          <p:cNvSpPr txBox="1"/>
          <p:nvPr/>
        </p:nvSpPr>
        <p:spPr>
          <a:xfrm>
            <a:off x="147052" y="982176"/>
            <a:ext cx="10319381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rdf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&lt;http://www.w3.org/1999/02/22-rdf-syntax-ns#&gt;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/property/&gt;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/ontology/&gt;</a:t>
            </a: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SELECT ?name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foundingYear</a:t>
            </a:r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FROM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/&gt;</a:t>
            </a: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WHERE {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	?subject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dbp:name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?name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	?subject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rdf:type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dbo:Company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	?subject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dbo:foundingYear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foundingYear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776C03-B6FA-D4C2-F879-605EA967C5ED}"/>
              </a:ext>
            </a:extLst>
          </p:cNvPr>
          <p:cNvSpPr/>
          <p:nvPr/>
        </p:nvSpPr>
        <p:spPr>
          <a:xfrm>
            <a:off x="147052" y="3133703"/>
            <a:ext cx="9830775" cy="590592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I"/>
          </a:p>
        </p:txBody>
      </p:sp>
    </p:spTree>
    <p:extLst>
      <p:ext uri="{BB962C8B-B14F-4D97-AF65-F5344CB8AC3E}">
        <p14:creationId xmlns:p14="http://schemas.microsoft.com/office/powerpoint/2010/main" val="36003726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6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6FC433-D8DC-4010-E909-C79241349C2C}"/>
              </a:ext>
            </a:extLst>
          </p:cNvPr>
          <p:cNvSpPr txBox="1">
            <a:spLocks/>
          </p:cNvSpPr>
          <p:nvPr/>
        </p:nvSpPr>
        <p:spPr>
          <a:xfrm>
            <a:off x="25200" y="25200"/>
            <a:ext cx="11185451" cy="63353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l-SI" sz="3000" b="1" dirty="0">
                <a:latin typeface="Public Sans SemiBold" pitchFamily="2" charset="77"/>
              </a:rPr>
              <a:t>Poizvedba </a:t>
            </a:r>
            <a:r>
              <a:rPr lang="en-SI" sz="3000" b="1">
                <a:latin typeface="Public Sans SemiBold" pitchFamily="2" charset="77"/>
              </a:rPr>
              <a:t>SPARQL</a:t>
            </a:r>
            <a:endParaRPr lang="en-SI" sz="3000" b="1" dirty="0">
              <a:latin typeface="Public Sans SemiBold" pitchFamily="2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0E87BC-38C9-503B-2144-0CDDB3D2CCEF}"/>
              </a:ext>
            </a:extLst>
          </p:cNvPr>
          <p:cNvSpPr txBox="1"/>
          <p:nvPr/>
        </p:nvSpPr>
        <p:spPr>
          <a:xfrm>
            <a:off x="147052" y="982176"/>
            <a:ext cx="10319381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rdf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&lt;http://www.w3.org/1999/02/22-rdf-syntax-ns#&gt;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/property/&gt;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/ontology/&gt;</a:t>
            </a: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SELECT ?name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foundingYear</a:t>
            </a:r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FROM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/&gt;</a:t>
            </a: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WHERE {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	?subject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dbp:name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?name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	?subject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rdf:type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dbo:Company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	?subject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dbo:foundingYear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foundingYear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776C03-B6FA-D4C2-F879-605EA967C5ED}"/>
              </a:ext>
            </a:extLst>
          </p:cNvPr>
          <p:cNvSpPr/>
          <p:nvPr/>
        </p:nvSpPr>
        <p:spPr>
          <a:xfrm>
            <a:off x="147052" y="3865222"/>
            <a:ext cx="9830775" cy="2096665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I"/>
          </a:p>
        </p:txBody>
      </p:sp>
    </p:spTree>
    <p:extLst>
      <p:ext uri="{BB962C8B-B14F-4D97-AF65-F5344CB8AC3E}">
        <p14:creationId xmlns:p14="http://schemas.microsoft.com/office/powerpoint/2010/main" val="13877089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6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6FC433-D8DC-4010-E909-C79241349C2C}"/>
              </a:ext>
            </a:extLst>
          </p:cNvPr>
          <p:cNvSpPr txBox="1">
            <a:spLocks/>
          </p:cNvSpPr>
          <p:nvPr/>
        </p:nvSpPr>
        <p:spPr>
          <a:xfrm>
            <a:off x="25200" y="25200"/>
            <a:ext cx="11185451" cy="63353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l-SI" sz="3000" b="1" dirty="0">
                <a:latin typeface="Public Sans SemiBold" pitchFamily="2" charset="77"/>
              </a:rPr>
              <a:t>Poizvedba </a:t>
            </a:r>
            <a:r>
              <a:rPr lang="en-SI" sz="3000" b="1">
                <a:latin typeface="Public Sans SemiBold" pitchFamily="2" charset="77"/>
              </a:rPr>
              <a:t>SPARQL</a:t>
            </a:r>
            <a:r>
              <a:rPr lang="sl-SI" sz="3000" b="1" dirty="0">
                <a:latin typeface="Public Sans SemiBold" pitchFamily="2" charset="77"/>
              </a:rPr>
              <a:t> </a:t>
            </a:r>
            <a:r>
              <a:rPr lang="en-SI" sz="3000" b="1">
                <a:latin typeface="Public Sans SemiBold" pitchFamily="2" charset="77"/>
              </a:rPr>
              <a:t>(</a:t>
            </a:r>
            <a:r>
              <a:rPr lang="en-SI" sz="3000" b="1" dirty="0">
                <a:latin typeface="Public Sans SemiBold" pitchFamily="2" charset="77"/>
              </a:rPr>
              <a:t>DBPedia)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0E87BC-38C9-503B-2144-0CDDB3D2CCEF}"/>
              </a:ext>
            </a:extLst>
          </p:cNvPr>
          <p:cNvSpPr txBox="1"/>
          <p:nvPr/>
        </p:nvSpPr>
        <p:spPr>
          <a:xfrm>
            <a:off x="307136" y="754980"/>
            <a:ext cx="10319381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 err="1">
                <a:latin typeface="Poppins" pitchFamily="2" charset="77"/>
                <a:cs typeface="Poppins" pitchFamily="2" charset="77"/>
              </a:rPr>
              <a:t>DBPedia</a:t>
            </a:r>
            <a:r>
              <a:rPr lang="en-GB" sz="2000" dirty="0">
                <a:latin typeface="Poppins" pitchFamily="2" charset="77"/>
                <a:cs typeface="Poppins" pitchFamily="2" charset="77"/>
              </a:rPr>
              <a:t> </a:t>
            </a:r>
            <a:r>
              <a:rPr lang="en-GB" sz="2000" dirty="0" err="1">
                <a:latin typeface="Poppins" pitchFamily="2" charset="77"/>
                <a:cs typeface="Poppins" pitchFamily="2" charset="77"/>
              </a:rPr>
              <a:t>storitev</a:t>
            </a:r>
            <a:r>
              <a:rPr lang="en-GB" sz="2000" dirty="0">
                <a:latin typeface="Poppins" pitchFamily="2" charset="77"/>
                <a:cs typeface="Poppins" pitchFamily="2" charset="77"/>
              </a:rPr>
              <a:t> SPARQL: </a:t>
            </a:r>
            <a:r>
              <a:rPr lang="en-GB" sz="2000" dirty="0">
                <a:solidFill>
                  <a:srgbClr val="ADB1C4"/>
                </a:solidFill>
                <a:latin typeface="Poppins" pitchFamily="2" charset="77"/>
                <a:cs typeface="Poppins" pitchFamily="2" charset="7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https://dbpedia.org/sparql</a:t>
            </a:r>
            <a:endParaRPr lang="en-GB" sz="2000" dirty="0">
              <a:solidFill>
                <a:srgbClr val="ADB1C4"/>
              </a:solidFill>
              <a:latin typeface="Poppins" pitchFamily="2" charset="77"/>
              <a:cs typeface="Poppins" pitchFamily="2" charset="77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GB" sz="2000" dirty="0">
              <a:latin typeface="Poppins" pitchFamily="2" charset="77"/>
              <a:cs typeface="Poppins" pitchFamily="2" charset="77"/>
            </a:endParaRPr>
          </a:p>
          <a:p>
            <a:r>
              <a:rPr lang="en-GB" sz="2000" dirty="0" err="1">
                <a:latin typeface="Poppins" pitchFamily="2" charset="77"/>
                <a:cs typeface="Poppins" pitchFamily="2" charset="77"/>
              </a:rPr>
              <a:t>DBPedia</a:t>
            </a:r>
            <a:endParaRPr lang="en-GB" sz="2000" dirty="0">
              <a:latin typeface="Poppins" pitchFamily="2" charset="77"/>
              <a:cs typeface="Poppins" pitchFamily="2" charset="77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latin typeface="Poppins" pitchFamily="2" charset="77"/>
                <a:cs typeface="Poppins" pitchFamily="2" charset="77"/>
              </a:rPr>
              <a:t>900 million </a:t>
            </a:r>
            <a:r>
              <a:rPr lang="en-GB" sz="2000" dirty="0" err="1">
                <a:latin typeface="Poppins" pitchFamily="2" charset="77"/>
                <a:cs typeface="Poppins" pitchFamily="2" charset="77"/>
              </a:rPr>
              <a:t>dejstev</a:t>
            </a:r>
            <a:endParaRPr lang="en-GB" sz="2000" dirty="0">
              <a:latin typeface="Poppins" pitchFamily="2" charset="77"/>
              <a:cs typeface="Poppins" pitchFamily="2" charset="77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latin typeface="Poppins" pitchFamily="2" charset="77"/>
                <a:cs typeface="Poppins" pitchFamily="2" charset="77"/>
              </a:rPr>
              <a:t>400.000 </a:t>
            </a:r>
            <a:r>
              <a:rPr lang="en-GB" sz="2000" dirty="0" err="1">
                <a:latin typeface="Poppins" pitchFamily="2" charset="77"/>
                <a:cs typeface="Poppins" pitchFamily="2" charset="77"/>
              </a:rPr>
              <a:t>organizacij</a:t>
            </a:r>
            <a:endParaRPr lang="en-GB" sz="2000" dirty="0">
              <a:latin typeface="Poppins" pitchFamily="2" charset="77"/>
              <a:cs typeface="Poppins" pitchFamily="2" charset="7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519025-EC2A-154A-A429-69D3229D7D2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8084" y="1149494"/>
            <a:ext cx="6205516" cy="4953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52653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6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6FC433-D8DC-4010-E909-C79241349C2C}"/>
              </a:ext>
            </a:extLst>
          </p:cNvPr>
          <p:cNvSpPr txBox="1">
            <a:spLocks/>
          </p:cNvSpPr>
          <p:nvPr/>
        </p:nvSpPr>
        <p:spPr>
          <a:xfrm>
            <a:off x="25200" y="25200"/>
            <a:ext cx="11185451" cy="63353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l-SI" sz="3000" b="1" dirty="0">
                <a:latin typeface="Public Sans SemiBold" pitchFamily="2" charset="77"/>
              </a:rPr>
              <a:t>Poizvedba </a:t>
            </a:r>
            <a:r>
              <a:rPr lang="en-SI" sz="3000" b="1">
                <a:latin typeface="Public Sans SemiBold" pitchFamily="2" charset="77"/>
              </a:rPr>
              <a:t>SPARQL</a:t>
            </a:r>
            <a:r>
              <a:rPr lang="sl-SI" sz="3000" b="1" dirty="0">
                <a:latin typeface="Public Sans SemiBold" pitchFamily="2" charset="77"/>
              </a:rPr>
              <a:t> </a:t>
            </a:r>
            <a:r>
              <a:rPr lang="en-SI" sz="3000">
                <a:latin typeface="Public Sans SemiBold" pitchFamily="2" charset="77"/>
              </a:rPr>
              <a:t>– </a:t>
            </a:r>
            <a:r>
              <a:rPr lang="en-SI" sz="3000" dirty="0">
                <a:latin typeface="Public Sans SemiBold" pitchFamily="2" charset="77"/>
              </a:rPr>
              <a:t>ORDER, LIMIT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0E87BC-38C9-503B-2144-0CDDB3D2CCEF}"/>
              </a:ext>
            </a:extLst>
          </p:cNvPr>
          <p:cNvSpPr txBox="1"/>
          <p:nvPr/>
        </p:nvSpPr>
        <p:spPr>
          <a:xfrm>
            <a:off x="183628" y="658733"/>
            <a:ext cx="10319381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rdf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&lt;http://www.w3.org/1999/02/22-rdf-syntax-ns#&gt;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/property/&gt;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/ontology/&gt;</a:t>
            </a: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SELECT ?name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foundingYear</a:t>
            </a:r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FROM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/&gt;</a:t>
            </a: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WHERE {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	?subject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dbp:name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?name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	?subject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rdf:type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dbo:Company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	?subject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dbo:foundingYear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foundingYear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ORDER BY ASC (?name)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LIMIT 100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FE734F-57F8-5CE8-7422-EEE449A0A6DE}"/>
              </a:ext>
            </a:extLst>
          </p:cNvPr>
          <p:cNvSpPr/>
          <p:nvPr/>
        </p:nvSpPr>
        <p:spPr>
          <a:xfrm>
            <a:off x="183628" y="5337800"/>
            <a:ext cx="9830775" cy="953243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I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246BD2-0219-2A07-215F-0D48FB3CB7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1782" y="1292266"/>
            <a:ext cx="4486590" cy="3581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58340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6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6FC433-D8DC-4010-E909-C79241349C2C}"/>
              </a:ext>
            </a:extLst>
          </p:cNvPr>
          <p:cNvSpPr txBox="1">
            <a:spLocks/>
          </p:cNvSpPr>
          <p:nvPr/>
        </p:nvSpPr>
        <p:spPr>
          <a:xfrm>
            <a:off x="25200" y="25200"/>
            <a:ext cx="11185451" cy="63353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l-SI" sz="3000" b="1" dirty="0">
                <a:latin typeface="Public Sans SemiBold" pitchFamily="2" charset="77"/>
              </a:rPr>
              <a:t>Poizvedba </a:t>
            </a:r>
            <a:r>
              <a:rPr lang="en-SI" sz="3000" b="1">
                <a:latin typeface="Public Sans SemiBold" pitchFamily="2" charset="77"/>
              </a:rPr>
              <a:t>SPARQL</a:t>
            </a:r>
            <a:r>
              <a:rPr lang="sl-SI" sz="3000" b="1" dirty="0">
                <a:latin typeface="Public Sans SemiBold" pitchFamily="2" charset="77"/>
              </a:rPr>
              <a:t> </a:t>
            </a:r>
            <a:r>
              <a:rPr lang="en-SI" sz="3000" b="1">
                <a:latin typeface="Public Sans SemiBold" pitchFamily="2" charset="77"/>
              </a:rPr>
              <a:t>– </a:t>
            </a:r>
            <a:r>
              <a:rPr lang="en-SI" sz="3000" b="1" dirty="0">
                <a:latin typeface="Public Sans SemiBold" pitchFamily="2" charset="77"/>
              </a:rPr>
              <a:t>OFFSET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0E87BC-38C9-503B-2144-0CDDB3D2CCEF}"/>
              </a:ext>
            </a:extLst>
          </p:cNvPr>
          <p:cNvSpPr txBox="1"/>
          <p:nvPr/>
        </p:nvSpPr>
        <p:spPr>
          <a:xfrm>
            <a:off x="147052" y="565210"/>
            <a:ext cx="10319381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rdf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&lt;http://www.w3.org/1999/02/22-rdf-syntax-ns#&gt;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/property/&gt;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/ontology/&gt;</a:t>
            </a: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SELECT ?name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foundingYear</a:t>
            </a:r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FROM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/&gt;</a:t>
            </a: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WHERE {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	?subject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dbp:name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?name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	?subject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rdf:type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dbo:Company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	?subject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dbo:foundingYear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foundingYear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ORDER BY ASC (?name)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LIMIT 100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OFFSET 14800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FE734F-57F8-5CE8-7422-EEE449A0A6DE}"/>
              </a:ext>
            </a:extLst>
          </p:cNvPr>
          <p:cNvSpPr/>
          <p:nvPr/>
        </p:nvSpPr>
        <p:spPr>
          <a:xfrm>
            <a:off x="147052" y="6103247"/>
            <a:ext cx="9830775" cy="476622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I"/>
          </a:p>
        </p:txBody>
      </p:sp>
    </p:spTree>
    <p:extLst>
      <p:ext uri="{BB962C8B-B14F-4D97-AF65-F5344CB8AC3E}">
        <p14:creationId xmlns:p14="http://schemas.microsoft.com/office/powerpoint/2010/main" val="15362556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6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6FC433-D8DC-4010-E909-C79241349C2C}"/>
              </a:ext>
            </a:extLst>
          </p:cNvPr>
          <p:cNvSpPr txBox="1">
            <a:spLocks/>
          </p:cNvSpPr>
          <p:nvPr/>
        </p:nvSpPr>
        <p:spPr>
          <a:xfrm>
            <a:off x="25200" y="25200"/>
            <a:ext cx="11185451" cy="63353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l-SI" sz="3000" b="1" dirty="0">
                <a:latin typeface="Public Sans SemiBold" pitchFamily="2" charset="77"/>
              </a:rPr>
              <a:t>Poizvedba </a:t>
            </a:r>
            <a:r>
              <a:rPr lang="en-SI" sz="3000" b="1">
                <a:latin typeface="Public Sans SemiBold" pitchFamily="2" charset="77"/>
              </a:rPr>
              <a:t>SPARQL</a:t>
            </a:r>
            <a:r>
              <a:rPr lang="sl-SI" sz="3000" b="1" dirty="0">
                <a:latin typeface="Public Sans SemiBold" pitchFamily="2" charset="77"/>
              </a:rPr>
              <a:t> </a:t>
            </a:r>
            <a:r>
              <a:rPr lang="en-SI" sz="3000" b="1">
                <a:latin typeface="Public Sans SemiBold" pitchFamily="2" charset="77"/>
              </a:rPr>
              <a:t>– </a:t>
            </a:r>
            <a:r>
              <a:rPr lang="en-SI" sz="3000" b="1" dirty="0">
                <a:latin typeface="Public Sans SemiBold" pitchFamily="2" charset="77"/>
              </a:rPr>
              <a:t>FILTER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0E87BC-38C9-503B-2144-0CDDB3D2CCEF}"/>
              </a:ext>
            </a:extLst>
          </p:cNvPr>
          <p:cNvSpPr txBox="1"/>
          <p:nvPr/>
        </p:nvSpPr>
        <p:spPr>
          <a:xfrm>
            <a:off x="147052" y="658733"/>
            <a:ext cx="10319381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rdf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&lt;http://www.w3.org/1999/02/22-rdf-syntax-ns#&gt;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/property/&gt;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/ontology/&gt;</a:t>
            </a: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SELECT ?name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foundingYear</a:t>
            </a:r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FROM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/&gt;</a:t>
            </a: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WHERE {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	?subject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dbp:name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?name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	?subject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rdf:type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dbo:Company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	?subject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dbo:foundingYear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foundingYear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	FILTER (?subject IN (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dbr:Audi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))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LIMIT 100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FE734F-57F8-5CE8-7422-EEE449A0A6DE}"/>
              </a:ext>
            </a:extLst>
          </p:cNvPr>
          <p:cNvSpPr/>
          <p:nvPr/>
        </p:nvSpPr>
        <p:spPr>
          <a:xfrm>
            <a:off x="1068727" y="5093155"/>
            <a:ext cx="7124297" cy="476622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I"/>
          </a:p>
        </p:txBody>
      </p:sp>
    </p:spTree>
    <p:extLst>
      <p:ext uri="{BB962C8B-B14F-4D97-AF65-F5344CB8AC3E}">
        <p14:creationId xmlns:p14="http://schemas.microsoft.com/office/powerpoint/2010/main" val="12816724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6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6FC433-D8DC-4010-E909-C79241349C2C}"/>
              </a:ext>
            </a:extLst>
          </p:cNvPr>
          <p:cNvSpPr txBox="1">
            <a:spLocks/>
          </p:cNvSpPr>
          <p:nvPr/>
        </p:nvSpPr>
        <p:spPr>
          <a:xfrm>
            <a:off x="25200" y="25200"/>
            <a:ext cx="11185451" cy="63353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l-SI" sz="3000" b="1" dirty="0">
                <a:latin typeface="Public Sans SemiBold" pitchFamily="2" charset="77"/>
              </a:rPr>
              <a:t>Poizvedba </a:t>
            </a:r>
            <a:r>
              <a:rPr lang="en-SI" sz="3000" b="1">
                <a:latin typeface="Public Sans SemiBold" pitchFamily="2" charset="77"/>
              </a:rPr>
              <a:t>SPARQL</a:t>
            </a:r>
            <a:r>
              <a:rPr lang="sl-SI" sz="3000" b="1" dirty="0">
                <a:latin typeface="Public Sans SemiBold" pitchFamily="2" charset="77"/>
              </a:rPr>
              <a:t> </a:t>
            </a:r>
            <a:r>
              <a:rPr lang="en-SI" sz="3000" b="1">
                <a:latin typeface="Public Sans SemiBold" pitchFamily="2" charset="77"/>
              </a:rPr>
              <a:t>– </a:t>
            </a:r>
            <a:r>
              <a:rPr lang="en-SI" sz="3000" b="1" dirty="0">
                <a:latin typeface="Public Sans SemiBold" pitchFamily="2" charset="77"/>
              </a:rPr>
              <a:t>FILTER REGEX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0E87BC-38C9-503B-2144-0CDDB3D2CCEF}"/>
              </a:ext>
            </a:extLst>
          </p:cNvPr>
          <p:cNvSpPr txBox="1"/>
          <p:nvPr/>
        </p:nvSpPr>
        <p:spPr>
          <a:xfrm>
            <a:off x="207086" y="772474"/>
            <a:ext cx="10319381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rdf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&lt;http://www.w3.org/1999/02/22-rdf-syntax-ns#&gt;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/property/&gt;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/ontology/&gt;</a:t>
            </a: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SELECT ?name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foundingYear</a:t>
            </a:r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FROM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/&gt;</a:t>
            </a: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WHERE {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	?subject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dbp:name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?name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	?subject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rdf:type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dbo:Company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	?subject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dbo:foundingYear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foundingYear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	FILTER REGEX (?name, "^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audi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", "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")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LIMIT 100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FE734F-57F8-5CE8-7422-EEE449A0A6DE}"/>
              </a:ext>
            </a:extLst>
          </p:cNvPr>
          <p:cNvSpPr/>
          <p:nvPr/>
        </p:nvSpPr>
        <p:spPr>
          <a:xfrm>
            <a:off x="1156229" y="5190691"/>
            <a:ext cx="7341596" cy="476622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I"/>
          </a:p>
        </p:txBody>
      </p:sp>
    </p:spTree>
    <p:extLst>
      <p:ext uri="{BB962C8B-B14F-4D97-AF65-F5344CB8AC3E}">
        <p14:creationId xmlns:p14="http://schemas.microsoft.com/office/powerpoint/2010/main" val="26440640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6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6FC433-D8DC-4010-E909-C79241349C2C}"/>
              </a:ext>
            </a:extLst>
          </p:cNvPr>
          <p:cNvSpPr txBox="1">
            <a:spLocks/>
          </p:cNvSpPr>
          <p:nvPr/>
        </p:nvSpPr>
        <p:spPr>
          <a:xfrm>
            <a:off x="25200" y="25200"/>
            <a:ext cx="11185451" cy="63353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l-SI" sz="3000" b="1" dirty="0">
                <a:latin typeface="Public Sans SemiBold" pitchFamily="2" charset="77"/>
              </a:rPr>
              <a:t>Poizvedba </a:t>
            </a:r>
            <a:r>
              <a:rPr lang="en-SI" sz="3000" b="1">
                <a:latin typeface="Public Sans SemiBold" pitchFamily="2" charset="77"/>
              </a:rPr>
              <a:t>SPARQL</a:t>
            </a:r>
            <a:r>
              <a:rPr lang="sl-SI" sz="3000" b="1" dirty="0">
                <a:latin typeface="Public Sans SemiBold" pitchFamily="2" charset="77"/>
              </a:rPr>
              <a:t> </a:t>
            </a:r>
            <a:r>
              <a:rPr lang="en-SI" sz="3000" b="1">
                <a:latin typeface="Public Sans SemiBold" pitchFamily="2" charset="77"/>
              </a:rPr>
              <a:t>– </a:t>
            </a:r>
            <a:r>
              <a:rPr lang="en-SI" sz="3000" b="1" dirty="0">
                <a:latin typeface="Public Sans SemiBold" pitchFamily="2" charset="77"/>
              </a:rPr>
              <a:t>OPTIONAL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0E87BC-38C9-503B-2144-0CDDB3D2CCEF}"/>
              </a:ext>
            </a:extLst>
          </p:cNvPr>
          <p:cNvSpPr txBox="1"/>
          <p:nvPr/>
        </p:nvSpPr>
        <p:spPr>
          <a:xfrm>
            <a:off x="149925" y="658731"/>
            <a:ext cx="10319381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rdf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&lt;http://www.w3.org/1999/02/22-rdf-syntax-ns#&gt;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/property/&gt;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/ontology/&gt;</a:t>
            </a: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SELECT ?name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foundingYear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tradingName</a:t>
            </a:r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FROM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/&gt;</a:t>
            </a: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WHERE {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	?subject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dbp:name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?name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	?subject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rdf:type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dbo:Company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	?subject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dbo:foundingYear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foundingYear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	?subject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dbo:tradingName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tradingName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	FILTER REGEX (?name, "^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audi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", "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")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LIMIT 100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FE734F-57F8-5CE8-7422-EEE449A0A6DE}"/>
              </a:ext>
            </a:extLst>
          </p:cNvPr>
          <p:cNvSpPr/>
          <p:nvPr/>
        </p:nvSpPr>
        <p:spPr>
          <a:xfrm>
            <a:off x="763257" y="5065060"/>
            <a:ext cx="7454152" cy="476622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I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2FE08D-BFC4-7624-DDD6-FBC0A929B591}"/>
              </a:ext>
            </a:extLst>
          </p:cNvPr>
          <p:cNvSpPr txBox="1"/>
          <p:nvPr/>
        </p:nvSpPr>
        <p:spPr>
          <a:xfrm>
            <a:off x="6096000" y="197626"/>
            <a:ext cx="61569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>
                <a:solidFill>
                  <a:srgbClr val="ADB1C4"/>
                </a:solidFill>
                <a:latin typeface="Poppins" pitchFamily="2" charset="77"/>
                <a:cs typeface="Poppins" pitchFamily="2" charset="7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https://dbpedia.org/ontology/Company</a:t>
            </a:r>
            <a:endParaRPr lang="en-GB" sz="2800" b="1" dirty="0">
              <a:latin typeface="Public Sans SemiBold" pitchFamily="2" charset="77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17389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6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6FC433-D8DC-4010-E909-C79241349C2C}"/>
              </a:ext>
            </a:extLst>
          </p:cNvPr>
          <p:cNvSpPr txBox="1">
            <a:spLocks/>
          </p:cNvSpPr>
          <p:nvPr/>
        </p:nvSpPr>
        <p:spPr>
          <a:xfrm>
            <a:off x="25200" y="25200"/>
            <a:ext cx="11185451" cy="63353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l-SI" sz="3000" b="1" dirty="0">
                <a:latin typeface="Public Sans SemiBold" pitchFamily="2" charset="77"/>
              </a:rPr>
              <a:t>Poizvedba </a:t>
            </a:r>
            <a:r>
              <a:rPr lang="en-SI" sz="3000" b="1">
                <a:latin typeface="Public Sans SemiBold" pitchFamily="2" charset="77"/>
              </a:rPr>
              <a:t>SPARQL</a:t>
            </a:r>
            <a:r>
              <a:rPr lang="sl-SI" sz="3000" b="1" dirty="0">
                <a:latin typeface="Public Sans SemiBold" pitchFamily="2" charset="77"/>
              </a:rPr>
              <a:t> </a:t>
            </a:r>
            <a:r>
              <a:rPr lang="en-SI" sz="3000" b="1">
                <a:latin typeface="Public Sans SemiBold" pitchFamily="2" charset="77"/>
              </a:rPr>
              <a:t>– </a:t>
            </a:r>
            <a:r>
              <a:rPr lang="en-SI" sz="3000" b="1" dirty="0">
                <a:latin typeface="Public Sans SemiBold" pitchFamily="2" charset="77"/>
              </a:rPr>
              <a:t>OPTIONAL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0E87BC-38C9-503B-2144-0CDDB3D2CCEF}"/>
              </a:ext>
            </a:extLst>
          </p:cNvPr>
          <p:cNvSpPr txBox="1"/>
          <p:nvPr/>
        </p:nvSpPr>
        <p:spPr>
          <a:xfrm>
            <a:off x="149925" y="658731"/>
            <a:ext cx="10319381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rdf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&lt;http://www.w3.org/1999/02/22-rdf-syntax-ns#&gt;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/property/&gt;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/ontology/&gt;</a:t>
            </a: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SELECT ?name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foundingYear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tradingName</a:t>
            </a:r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FROM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/&gt;</a:t>
            </a: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WHERE {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	?subject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dbp:name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?name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	?subject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rdf:type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dbo:Company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	?subject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dbo:foundingYear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foundingYear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	OPTIONAL {?subject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dbo:tradingName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tradingName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.}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	FILTER REGEX (?name, "^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audi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", "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")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LIMIT 100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FE734F-57F8-5CE8-7422-EEE449A0A6DE}"/>
              </a:ext>
            </a:extLst>
          </p:cNvPr>
          <p:cNvSpPr/>
          <p:nvPr/>
        </p:nvSpPr>
        <p:spPr>
          <a:xfrm>
            <a:off x="763256" y="5065060"/>
            <a:ext cx="8973868" cy="476622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I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2FE08D-BFC4-7624-DDD6-FBC0A929B591}"/>
              </a:ext>
            </a:extLst>
          </p:cNvPr>
          <p:cNvSpPr txBox="1"/>
          <p:nvPr/>
        </p:nvSpPr>
        <p:spPr>
          <a:xfrm>
            <a:off x="6009840" y="141911"/>
            <a:ext cx="61569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>
                <a:solidFill>
                  <a:srgbClr val="ADB1C4"/>
                </a:solidFill>
                <a:latin typeface="Poppins" pitchFamily="2" charset="77"/>
                <a:cs typeface="Poppins" pitchFamily="2" charset="7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https://dbpedia.org/ontology/Company</a:t>
            </a:r>
            <a:endParaRPr lang="en-GB" sz="2800" b="1" dirty="0">
              <a:latin typeface="Public Sans SemiBold" pitchFamily="2" charset="77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84710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6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6FC433-D8DC-4010-E909-C79241349C2C}"/>
              </a:ext>
            </a:extLst>
          </p:cNvPr>
          <p:cNvSpPr txBox="1">
            <a:spLocks/>
          </p:cNvSpPr>
          <p:nvPr/>
        </p:nvSpPr>
        <p:spPr>
          <a:xfrm>
            <a:off x="25200" y="25200"/>
            <a:ext cx="11185451" cy="63353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l-SI" sz="3000" b="1" dirty="0">
                <a:latin typeface="Public Sans SemiBold" pitchFamily="2" charset="77"/>
              </a:rPr>
              <a:t>Poizvedba </a:t>
            </a:r>
            <a:r>
              <a:rPr lang="en-SI" sz="3000" b="1">
                <a:latin typeface="Public Sans SemiBold" pitchFamily="2" charset="77"/>
              </a:rPr>
              <a:t>SPARQL</a:t>
            </a:r>
            <a:endParaRPr lang="en-SI" sz="3000" b="1" dirty="0">
              <a:latin typeface="Public Sans SemiBold" pitchFamily="2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0E87BC-38C9-503B-2144-0CDDB3D2CCEF}"/>
              </a:ext>
            </a:extLst>
          </p:cNvPr>
          <p:cNvSpPr txBox="1"/>
          <p:nvPr/>
        </p:nvSpPr>
        <p:spPr>
          <a:xfrm>
            <a:off x="159244" y="797510"/>
            <a:ext cx="10319381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rdf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&lt;http://www.w3.org/1999/02/22-rdf-syntax-ns#&gt;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/property/&gt;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/ontology/&gt;</a:t>
            </a: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SELECT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carCompanyName</a:t>
            </a:r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FROM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/&gt;</a:t>
            </a: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WHERE {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  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rdfs:label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carCompanyName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  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dbo:industry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dbr:Automotive_industry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  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dbp:locationCountry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dbr:Germany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. 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   FILTER (LANG(?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carCompanyName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)="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en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")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FE734F-57F8-5CE8-7422-EEE449A0A6DE}"/>
              </a:ext>
            </a:extLst>
          </p:cNvPr>
          <p:cNvSpPr/>
          <p:nvPr/>
        </p:nvSpPr>
        <p:spPr>
          <a:xfrm>
            <a:off x="159244" y="3731429"/>
            <a:ext cx="9830775" cy="2329059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I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4E4B64-90C4-56D8-0E64-AF2B9704AA5C}"/>
              </a:ext>
            </a:extLst>
          </p:cNvPr>
          <p:cNvSpPr txBox="1"/>
          <p:nvPr/>
        </p:nvSpPr>
        <p:spPr>
          <a:xfrm>
            <a:off x="4418275" y="141911"/>
            <a:ext cx="61569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>
                <a:solidFill>
                  <a:srgbClr val="ADB1C4"/>
                </a:solidFill>
                <a:latin typeface="Public Sans SemiBold" pitchFamily="2" charset="77"/>
                <a:cs typeface="Consolas" panose="020B0609020204030204" pitchFamily="49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https://dbpedia.org/page/Audi</a:t>
            </a:r>
            <a:endParaRPr lang="en-GB" sz="2000" dirty="0">
              <a:solidFill>
                <a:srgbClr val="ADB1C4"/>
              </a:solidFill>
              <a:latin typeface="Public Sans SemiBold" pitchFamily="2" charset="77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57765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6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6FC433-D8DC-4010-E909-C79241349C2C}"/>
              </a:ext>
            </a:extLst>
          </p:cNvPr>
          <p:cNvSpPr txBox="1">
            <a:spLocks/>
          </p:cNvSpPr>
          <p:nvPr/>
        </p:nvSpPr>
        <p:spPr>
          <a:xfrm>
            <a:off x="25200" y="25200"/>
            <a:ext cx="11185451" cy="63353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l-SI" sz="3000" b="1" dirty="0">
                <a:latin typeface="Public Sans SemiBold" pitchFamily="2" charset="77"/>
              </a:rPr>
              <a:t>Poizvedba </a:t>
            </a:r>
            <a:r>
              <a:rPr lang="en-SI" sz="3000" b="1">
                <a:latin typeface="Public Sans SemiBold" pitchFamily="2" charset="77"/>
              </a:rPr>
              <a:t>SPARQL</a:t>
            </a:r>
            <a:endParaRPr lang="en-SI" sz="3000" b="1" dirty="0">
              <a:latin typeface="Public Sans SemiBold" pitchFamily="2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0E87BC-38C9-503B-2144-0CDDB3D2CCEF}"/>
              </a:ext>
            </a:extLst>
          </p:cNvPr>
          <p:cNvSpPr txBox="1"/>
          <p:nvPr/>
        </p:nvSpPr>
        <p:spPr>
          <a:xfrm>
            <a:off x="159244" y="797510"/>
            <a:ext cx="10319381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rdf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&lt;http://www.w3.org/1999/02/22-rdf-syntax-ns#&gt;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/property/&gt;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/ontology/&gt;</a:t>
            </a: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SELECT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carCompanyName</a:t>
            </a:r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FROM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/&gt;</a:t>
            </a: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WHERE {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  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rdfs:label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carCompanyName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  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dbo:industry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dbr:Automotive_industry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  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dbp:locationCountry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dbr:Germany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. 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   FILTER (LANG(?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carCompanyName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)="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en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")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FE734F-57F8-5CE8-7422-EEE449A0A6DE}"/>
              </a:ext>
            </a:extLst>
          </p:cNvPr>
          <p:cNvSpPr/>
          <p:nvPr/>
        </p:nvSpPr>
        <p:spPr>
          <a:xfrm>
            <a:off x="159244" y="2999233"/>
            <a:ext cx="9830775" cy="524255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I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4E4B64-90C4-56D8-0E64-AF2B9704AA5C}"/>
              </a:ext>
            </a:extLst>
          </p:cNvPr>
          <p:cNvSpPr txBox="1"/>
          <p:nvPr/>
        </p:nvSpPr>
        <p:spPr>
          <a:xfrm>
            <a:off x="4418275" y="141911"/>
            <a:ext cx="61569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>
                <a:solidFill>
                  <a:srgbClr val="ADB1C4"/>
                </a:solidFill>
                <a:latin typeface="Public Sans SemiBold" pitchFamily="2" charset="77"/>
                <a:cs typeface="Consolas" panose="020B0609020204030204" pitchFamily="49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https://dbpedia.org/page/Audi</a:t>
            </a:r>
            <a:endParaRPr lang="en-GB" sz="2000" dirty="0">
              <a:solidFill>
                <a:srgbClr val="ADB1C4"/>
              </a:solidFill>
              <a:latin typeface="Public Sans SemiBold" pitchFamily="2" charset="77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41325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6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6FC433-D8DC-4010-E909-C79241349C2C}"/>
              </a:ext>
            </a:extLst>
          </p:cNvPr>
          <p:cNvSpPr txBox="1">
            <a:spLocks/>
          </p:cNvSpPr>
          <p:nvPr/>
        </p:nvSpPr>
        <p:spPr>
          <a:xfrm>
            <a:off x="25200" y="25200"/>
            <a:ext cx="11185451" cy="63353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l-SI" sz="3000" b="1" dirty="0">
                <a:latin typeface="Public Sans SemiBold" pitchFamily="2" charset="77"/>
              </a:rPr>
              <a:t>Poizvedba </a:t>
            </a:r>
            <a:r>
              <a:rPr lang="en-SI" sz="3000" b="1">
                <a:latin typeface="Public Sans SemiBold" pitchFamily="2" charset="77"/>
              </a:rPr>
              <a:t>SPARQL</a:t>
            </a:r>
            <a:r>
              <a:rPr lang="sl-SI" sz="3000" b="1" dirty="0">
                <a:latin typeface="Public Sans SemiBold" pitchFamily="2" charset="77"/>
              </a:rPr>
              <a:t> </a:t>
            </a:r>
            <a:r>
              <a:rPr lang="en-SI" sz="3000" b="1">
                <a:latin typeface="Public Sans SemiBold" pitchFamily="2" charset="77"/>
              </a:rPr>
              <a:t>- </a:t>
            </a:r>
            <a:r>
              <a:rPr lang="en-SI" sz="3000" b="1" dirty="0">
                <a:latin typeface="Public Sans SemiBold" pitchFamily="2" charset="77"/>
              </a:rPr>
              <a:t>UNION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0E87BC-38C9-503B-2144-0CDDB3D2CCEF}"/>
              </a:ext>
            </a:extLst>
          </p:cNvPr>
          <p:cNvSpPr txBox="1"/>
          <p:nvPr/>
        </p:nvSpPr>
        <p:spPr>
          <a:xfrm>
            <a:off x="159244" y="797510"/>
            <a:ext cx="10319381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rdf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&lt;http://www.w3.org/1999/02/22-rdf-syntax-ns#&gt;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/property/&gt;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/ontology/&gt;</a:t>
            </a: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SELECT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carCompanyName</a:t>
            </a:r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FROM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/&gt;</a:t>
            </a: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WHERE {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  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rdfs:label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carCompanyName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  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dbo:industry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dbr:Automotive_industry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   {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dbp:locationCountry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dbr:Germany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. }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   UNION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   {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dbp:locationCountry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dbr:Slovenia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. }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   FILTER (LANG(?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carCompanyName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)="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en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")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FE734F-57F8-5CE8-7422-EEE449A0A6DE}"/>
              </a:ext>
            </a:extLst>
          </p:cNvPr>
          <p:cNvSpPr/>
          <p:nvPr/>
        </p:nvSpPr>
        <p:spPr>
          <a:xfrm>
            <a:off x="268972" y="4828033"/>
            <a:ext cx="9830775" cy="1232457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I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4E4B64-90C4-56D8-0E64-AF2B9704AA5C}"/>
              </a:ext>
            </a:extLst>
          </p:cNvPr>
          <p:cNvSpPr txBox="1"/>
          <p:nvPr/>
        </p:nvSpPr>
        <p:spPr>
          <a:xfrm>
            <a:off x="5895684" y="258623"/>
            <a:ext cx="61569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>
                <a:solidFill>
                  <a:srgbClr val="ADB1C4"/>
                </a:solidFill>
                <a:latin typeface="Public Sans SemiBold" pitchFamily="2" charset="77"/>
                <a:cs typeface="Consolas" panose="020B0609020204030204" pitchFamily="49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https://dbpedia.org/page/Audi</a:t>
            </a:r>
            <a:endParaRPr lang="en-GB" sz="2000" dirty="0">
              <a:solidFill>
                <a:srgbClr val="ADB1C4"/>
              </a:solidFill>
              <a:latin typeface="Public Sans SemiBold" pitchFamily="2" charset="77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8520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6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6FC433-D8DC-4010-E909-C79241349C2C}"/>
              </a:ext>
            </a:extLst>
          </p:cNvPr>
          <p:cNvSpPr txBox="1">
            <a:spLocks/>
          </p:cNvSpPr>
          <p:nvPr/>
        </p:nvSpPr>
        <p:spPr>
          <a:xfrm>
            <a:off x="25200" y="25200"/>
            <a:ext cx="11185451" cy="63353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l-SI" sz="3000" b="1" dirty="0">
                <a:latin typeface="Public Sans SemiBold" pitchFamily="2" charset="77"/>
              </a:rPr>
              <a:t>Poizvedba </a:t>
            </a:r>
            <a:r>
              <a:rPr lang="en-SI" sz="3000" b="1">
                <a:latin typeface="Public Sans SemiBold" pitchFamily="2" charset="77"/>
              </a:rPr>
              <a:t>SPARQL</a:t>
            </a:r>
            <a:endParaRPr lang="en-SI" sz="3000" b="1" dirty="0">
              <a:latin typeface="Public Sans SemiBold" pitchFamily="2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0E87BC-38C9-503B-2144-0CDDB3D2CCEF}"/>
              </a:ext>
            </a:extLst>
          </p:cNvPr>
          <p:cNvSpPr txBox="1"/>
          <p:nvPr/>
        </p:nvSpPr>
        <p:spPr>
          <a:xfrm>
            <a:off x="195820" y="908829"/>
            <a:ext cx="10319381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rdf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&lt;http://www.w3.org/1999/02/22-rdf-syntax-ns#&gt;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/property/&gt;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/ontology/&gt;</a:t>
            </a: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SELECT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carCompanyName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countryName</a:t>
            </a:r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WHERE {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  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rdfs:label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carCompanyName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  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dbo:industry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dbr:Automotive_industry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  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dbp:locationCountry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?country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   ?country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rdfs:label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countryName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. 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   FILTER (LANG(?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carCompanyName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)="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en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" AND  </a:t>
            </a:r>
            <a:b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     LANG(?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countryName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)="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en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")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9249356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6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6FC433-D8DC-4010-E909-C79241349C2C}"/>
              </a:ext>
            </a:extLst>
          </p:cNvPr>
          <p:cNvSpPr txBox="1">
            <a:spLocks/>
          </p:cNvSpPr>
          <p:nvPr/>
        </p:nvSpPr>
        <p:spPr>
          <a:xfrm>
            <a:off x="25200" y="25200"/>
            <a:ext cx="11185451" cy="63353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l-SI" sz="3000" b="1" dirty="0">
                <a:latin typeface="Public Sans SemiBold" pitchFamily="2" charset="77"/>
              </a:rPr>
              <a:t>Poizvedba </a:t>
            </a:r>
            <a:r>
              <a:rPr lang="en-SI" sz="3000" b="1">
                <a:latin typeface="Public Sans SemiBold" pitchFamily="2" charset="77"/>
              </a:rPr>
              <a:t>SPARQL</a:t>
            </a:r>
            <a:r>
              <a:rPr lang="sl-SI" sz="3000" b="1" dirty="0">
                <a:latin typeface="Public Sans SemiBold" pitchFamily="2" charset="77"/>
              </a:rPr>
              <a:t> </a:t>
            </a:r>
            <a:r>
              <a:rPr lang="en-GB" sz="3000" b="1" dirty="0">
                <a:latin typeface="Public Sans SemiBold" pitchFamily="2" charset="77"/>
              </a:rPr>
              <a:t>– </a:t>
            </a:r>
            <a:r>
              <a:rPr lang="en-GB" sz="3000" b="1" dirty="0" err="1">
                <a:latin typeface="Public Sans SemiBold" pitchFamily="2" charset="77"/>
              </a:rPr>
              <a:t>Agregatne</a:t>
            </a:r>
            <a:r>
              <a:rPr lang="en-GB" sz="3000" b="1" dirty="0">
                <a:latin typeface="Public Sans SemiBold" pitchFamily="2" charset="77"/>
              </a:rPr>
              <a:t> </a:t>
            </a:r>
            <a:r>
              <a:rPr lang="en-GB" sz="3000" b="1" dirty="0" err="1">
                <a:latin typeface="Public Sans SemiBold" pitchFamily="2" charset="77"/>
              </a:rPr>
              <a:t>funkcije</a:t>
            </a:r>
            <a:endParaRPr lang="en-GB" sz="3000" b="1" dirty="0">
              <a:latin typeface="Public Sans SemiBold" pitchFamily="2" charset="77"/>
            </a:endParaRPr>
          </a:p>
          <a:p>
            <a:pPr marL="0" indent="0">
              <a:buNone/>
            </a:pPr>
            <a:endParaRPr lang="en-GB" sz="3000" b="1" dirty="0">
              <a:latin typeface="Public Sans SemiBold" pitchFamily="2" charset="77"/>
            </a:endParaRPr>
          </a:p>
          <a:p>
            <a:pPr marL="0" indent="0">
              <a:buNone/>
            </a:pPr>
            <a:endParaRPr lang="en-SI" sz="3000" b="1" dirty="0">
              <a:latin typeface="Public Sans SemiBold" pitchFamily="2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0E87BC-38C9-503B-2144-0CDDB3D2CCEF}"/>
              </a:ext>
            </a:extLst>
          </p:cNvPr>
          <p:cNvSpPr txBox="1"/>
          <p:nvPr/>
        </p:nvSpPr>
        <p:spPr>
          <a:xfrm>
            <a:off x="195820" y="908829"/>
            <a:ext cx="10319381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rdf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&lt;http://www.w3.org/1999/02/22-rdf-syntax-ns#&gt;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/property/&gt;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/ontology/&gt;</a:t>
            </a: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SELECT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carCompanyName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countryName</a:t>
            </a:r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WHERE {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  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rdfs:label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carCompanyName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  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dbo:industry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dbr:Automotive_industry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  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dbp:locationCountry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?country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   ?country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rdfs:label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countryName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. 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   FILTER (LANG(?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carCompanyName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)="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en</a:t>
            </a:r>
            <a:r>
              <a:rPr lang="en-GB" sz="2400">
                <a:latin typeface="Consolas" panose="020B0609020204030204" pitchFamily="49" charset="0"/>
                <a:cs typeface="Consolas" panose="020B0609020204030204" pitchFamily="49" charset="0"/>
              </a:rPr>
              <a:t>" AND  </a:t>
            </a:r>
            <a:br>
              <a:rPr lang="en-GB" sz="240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2400">
                <a:latin typeface="Consolas" panose="020B0609020204030204" pitchFamily="49" charset="0"/>
                <a:cs typeface="Consolas" panose="020B0609020204030204" pitchFamily="49" charset="0"/>
              </a:rPr>
              <a:t>            LANG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(?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countryName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)="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en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")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30F120F-5A9C-279D-18C3-F20C7118002F}"/>
              </a:ext>
            </a:extLst>
          </p:cNvPr>
          <p:cNvSpPr/>
          <p:nvPr/>
        </p:nvSpPr>
        <p:spPr>
          <a:xfrm>
            <a:off x="195820" y="2397179"/>
            <a:ext cx="9830775" cy="478972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I"/>
          </a:p>
        </p:txBody>
      </p:sp>
    </p:spTree>
    <p:extLst>
      <p:ext uri="{BB962C8B-B14F-4D97-AF65-F5344CB8AC3E}">
        <p14:creationId xmlns:p14="http://schemas.microsoft.com/office/powerpoint/2010/main" val="107166148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6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6FC433-D8DC-4010-E909-C79241349C2C}"/>
              </a:ext>
            </a:extLst>
          </p:cNvPr>
          <p:cNvSpPr txBox="1">
            <a:spLocks/>
          </p:cNvSpPr>
          <p:nvPr/>
        </p:nvSpPr>
        <p:spPr>
          <a:xfrm>
            <a:off x="25200" y="25200"/>
            <a:ext cx="11185451" cy="63353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l-SI" sz="3000" b="1" dirty="0">
                <a:latin typeface="Public Sans SemiBold" pitchFamily="2" charset="77"/>
              </a:rPr>
              <a:t>Poizvedba </a:t>
            </a:r>
            <a:r>
              <a:rPr lang="en-SI" sz="3000" b="1">
                <a:latin typeface="Public Sans SemiBold" pitchFamily="2" charset="77"/>
              </a:rPr>
              <a:t>SPARQL</a:t>
            </a:r>
            <a:r>
              <a:rPr lang="sl-SI" sz="3000" b="1" dirty="0">
                <a:latin typeface="Public Sans SemiBold" pitchFamily="2" charset="77"/>
              </a:rPr>
              <a:t> </a:t>
            </a:r>
            <a:r>
              <a:rPr lang="en-GB" sz="3000" b="1" dirty="0">
                <a:latin typeface="Public Sans SemiBold" pitchFamily="2" charset="77"/>
              </a:rPr>
              <a:t>– </a:t>
            </a:r>
            <a:r>
              <a:rPr lang="en-GB" sz="3000" b="1" dirty="0" err="1">
                <a:latin typeface="Public Sans SemiBold" pitchFamily="2" charset="77"/>
              </a:rPr>
              <a:t>Agregatne</a:t>
            </a:r>
            <a:r>
              <a:rPr lang="en-GB" sz="3000" b="1" dirty="0">
                <a:latin typeface="Public Sans SemiBold" pitchFamily="2" charset="77"/>
              </a:rPr>
              <a:t> </a:t>
            </a:r>
            <a:r>
              <a:rPr lang="en-GB" sz="3000" b="1" dirty="0" err="1">
                <a:latin typeface="Public Sans SemiBold" pitchFamily="2" charset="77"/>
              </a:rPr>
              <a:t>funkcije</a:t>
            </a:r>
            <a:endParaRPr lang="en-GB" sz="3000" b="1" dirty="0">
              <a:latin typeface="Public Sans SemiBold" pitchFamily="2" charset="77"/>
            </a:endParaRPr>
          </a:p>
          <a:p>
            <a:pPr marL="0" indent="0">
              <a:buNone/>
            </a:pPr>
            <a:endParaRPr lang="en-GB" sz="3000" b="1" dirty="0">
              <a:latin typeface="Public Sans SemiBold" pitchFamily="2" charset="77"/>
            </a:endParaRPr>
          </a:p>
          <a:p>
            <a:pPr marL="0" indent="0">
              <a:buNone/>
            </a:pPr>
            <a:endParaRPr lang="en-SI" sz="3000" b="1" dirty="0">
              <a:latin typeface="Public Sans SemiBold" pitchFamily="2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0E87BC-38C9-503B-2144-0CDDB3D2CCEF}"/>
              </a:ext>
            </a:extLst>
          </p:cNvPr>
          <p:cNvSpPr txBox="1"/>
          <p:nvPr/>
        </p:nvSpPr>
        <p:spPr>
          <a:xfrm>
            <a:off x="195820" y="908829"/>
            <a:ext cx="11014831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rdf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&lt;http://www.w3.org/1999/02/22-rdf-syntax-ns#&gt;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/property/&gt;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/ontology/&gt;</a:t>
            </a: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SELECT (COUNT(DISTINCT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carCompanyName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) AS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carCompanyNameCount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WHERE {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  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rdfs:label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carCompanyName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  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dbo:industry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dbr:Automotive_industry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  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dbp:locationCountry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?country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   ?country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rdfs:label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countryName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. 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   FILTER (LANG(?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carCompanyName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)="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en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" AND  </a:t>
            </a:r>
            <a:b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     LANG(?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countryName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)="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en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")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30F120F-5A9C-279D-18C3-F20C7118002F}"/>
              </a:ext>
            </a:extLst>
          </p:cNvPr>
          <p:cNvSpPr/>
          <p:nvPr/>
        </p:nvSpPr>
        <p:spPr>
          <a:xfrm>
            <a:off x="195820" y="2397179"/>
            <a:ext cx="10923284" cy="478972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I"/>
          </a:p>
        </p:txBody>
      </p:sp>
    </p:spTree>
    <p:extLst>
      <p:ext uri="{BB962C8B-B14F-4D97-AF65-F5344CB8AC3E}">
        <p14:creationId xmlns:p14="http://schemas.microsoft.com/office/powerpoint/2010/main" val="30041472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6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6FC433-D8DC-4010-E909-C79241349C2C}"/>
              </a:ext>
            </a:extLst>
          </p:cNvPr>
          <p:cNvSpPr txBox="1">
            <a:spLocks/>
          </p:cNvSpPr>
          <p:nvPr/>
        </p:nvSpPr>
        <p:spPr>
          <a:xfrm>
            <a:off x="25200" y="25200"/>
            <a:ext cx="11185451" cy="63353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l-SI" sz="3000" b="1" dirty="0">
                <a:latin typeface="Public Sans SemiBold" pitchFamily="2" charset="77"/>
              </a:rPr>
              <a:t>Poizvedba </a:t>
            </a:r>
            <a:r>
              <a:rPr lang="en-SI" sz="3000" b="1">
                <a:latin typeface="Public Sans SemiBold" pitchFamily="2" charset="77"/>
              </a:rPr>
              <a:t>SPARQL</a:t>
            </a:r>
            <a:r>
              <a:rPr lang="sl-SI" sz="3000" b="1" dirty="0">
                <a:latin typeface="Public Sans SemiBold" pitchFamily="2" charset="77"/>
              </a:rPr>
              <a:t> </a:t>
            </a:r>
            <a:r>
              <a:rPr lang="en-GB" sz="3000" b="1" dirty="0">
                <a:latin typeface="Public Sans SemiBold" pitchFamily="2" charset="77"/>
              </a:rPr>
              <a:t>– GROUP BY</a:t>
            </a:r>
          </a:p>
          <a:p>
            <a:pPr marL="0" indent="0">
              <a:buNone/>
            </a:pPr>
            <a:endParaRPr lang="en-GB" sz="3000" b="1" dirty="0">
              <a:latin typeface="Public Sans SemiBold" pitchFamily="2" charset="77"/>
            </a:endParaRPr>
          </a:p>
          <a:p>
            <a:pPr marL="0" indent="0">
              <a:buNone/>
            </a:pPr>
            <a:endParaRPr lang="en-SI" sz="3000" b="1" dirty="0">
              <a:latin typeface="Public Sans SemiBold" pitchFamily="2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0E87BC-38C9-503B-2144-0CDDB3D2CCEF}"/>
              </a:ext>
            </a:extLst>
          </p:cNvPr>
          <p:cNvSpPr txBox="1"/>
          <p:nvPr/>
        </p:nvSpPr>
        <p:spPr>
          <a:xfrm>
            <a:off x="195820" y="490850"/>
            <a:ext cx="11014831" cy="6370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rdf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&lt;http://www.w3.org/1999/02/22-rdf-syntax-ns#&gt;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/property/&gt;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&lt;http://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/ontology/&gt;</a:t>
            </a: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SELECT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countryName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(COUNT(DISTINCT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carCompanyName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) AS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carCompanyNameCount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WHERE {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  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rdfs:label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carCompanyName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  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dbo:industry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dbr:Automotive_industry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  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dbp:locationCountry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?country .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   ?country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rdfs:label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countryName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. 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   FILTER (LANG(?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carCompanyName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)="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en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" AND  </a:t>
            </a:r>
            <a:b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     LANG(?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countryName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)="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en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")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GROUP BY 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countryName</a:t>
            </a:r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ORDER BY DESC (?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carCompanyNameCount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DF8474-DC58-F62A-BC54-E4A6BDF19EFF}"/>
              </a:ext>
            </a:extLst>
          </p:cNvPr>
          <p:cNvSpPr/>
          <p:nvPr/>
        </p:nvSpPr>
        <p:spPr>
          <a:xfrm>
            <a:off x="195820" y="6048353"/>
            <a:ext cx="10923284" cy="388694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I"/>
          </a:p>
        </p:txBody>
      </p:sp>
    </p:spTree>
    <p:extLst>
      <p:ext uri="{BB962C8B-B14F-4D97-AF65-F5344CB8AC3E}">
        <p14:creationId xmlns:p14="http://schemas.microsoft.com/office/powerpoint/2010/main" val="351559767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6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0CC979C-0843-842D-1367-4F1A13337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3D8A14B-0753-7FDC-01CA-BAD52B5B0974}"/>
              </a:ext>
            </a:extLst>
          </p:cNvPr>
          <p:cNvSpPr txBox="1">
            <a:spLocks/>
          </p:cNvSpPr>
          <p:nvPr/>
        </p:nvSpPr>
        <p:spPr>
          <a:xfrm>
            <a:off x="25200" y="25200"/>
            <a:ext cx="11185451" cy="63353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l-SI" sz="3000" b="1" dirty="0">
                <a:latin typeface="Public Sans SemiBold" pitchFamily="2" charset="77"/>
              </a:rPr>
              <a:t>Poizvedba </a:t>
            </a:r>
            <a:r>
              <a:rPr lang="en-SI" sz="3000" b="1">
                <a:latin typeface="Public Sans SemiBold" pitchFamily="2" charset="77"/>
              </a:rPr>
              <a:t>SPARQL</a:t>
            </a:r>
            <a:r>
              <a:rPr lang="sl-SI" sz="3000" b="1" dirty="0">
                <a:latin typeface="Public Sans SemiBold" pitchFamily="2" charset="77"/>
              </a:rPr>
              <a:t> </a:t>
            </a:r>
            <a:r>
              <a:rPr lang="en-GB" sz="3000" b="1" dirty="0">
                <a:latin typeface="Public Sans SemiBold" pitchFamily="2" charset="77"/>
              </a:rPr>
              <a:t>– GROUP CONCAT</a:t>
            </a:r>
          </a:p>
          <a:p>
            <a:pPr marL="0" indent="0">
              <a:buNone/>
            </a:pPr>
            <a:endParaRPr lang="en-GB" sz="3000" b="1" dirty="0">
              <a:latin typeface="Public Sans SemiBold" pitchFamily="2" charset="77"/>
            </a:endParaRPr>
          </a:p>
          <a:p>
            <a:pPr marL="0" indent="0">
              <a:buNone/>
            </a:pPr>
            <a:endParaRPr lang="en-SI" sz="3000" b="1" dirty="0">
              <a:latin typeface="Public Sans SemiBold" pitchFamily="2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82280A-2E5A-3226-9DEE-B28AEF7C47B9}"/>
              </a:ext>
            </a:extLst>
          </p:cNvPr>
          <p:cNvSpPr txBox="1"/>
          <p:nvPr/>
        </p:nvSpPr>
        <p:spPr>
          <a:xfrm>
            <a:off x="195820" y="490850"/>
            <a:ext cx="11014831" cy="532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rdf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: &lt;http://www.w3.org/1999/02/22-rdf-syntax-ns#&gt;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dbp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: &lt;http://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/property/&gt;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dbo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: &lt;http://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/ontology/&gt;</a:t>
            </a:r>
          </a:p>
          <a:p>
            <a:endParaRPr lang="en-GB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SELECT ?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countryName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(COUNT(DISTINCT ?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carCompanyName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) AS ?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carCompanyNameCount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) (GROUP_CONCAT(?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carCompanyName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) as ?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carCompanyNames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endParaRPr lang="en-GB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WHERE {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   ?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rdfs:label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?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carCompanyName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.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   ?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dbo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: industry 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dbr:Automotive_industry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.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   ?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dbp:locationCountry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?country .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   ?country 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rdfs:label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?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countryName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. 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   FILTER (LANG(?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carCompanyName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)="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en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" AND  </a:t>
            </a:r>
            <a:b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    LANG(?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countryName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)="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en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")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GROUP BY ?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countryName</a:t>
            </a:r>
            <a:endParaRPr lang="en-GB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ORDER BY DESC (?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carCompanyNameCount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96CB7C0-B9CC-0487-5AC4-393191E785F1}"/>
              </a:ext>
            </a:extLst>
          </p:cNvPr>
          <p:cNvSpPr/>
          <p:nvPr/>
        </p:nvSpPr>
        <p:spPr>
          <a:xfrm>
            <a:off x="287367" y="2044764"/>
            <a:ext cx="10923284" cy="388694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I"/>
          </a:p>
        </p:txBody>
      </p:sp>
    </p:spTree>
    <p:extLst>
      <p:ext uri="{BB962C8B-B14F-4D97-AF65-F5344CB8AC3E}">
        <p14:creationId xmlns:p14="http://schemas.microsoft.com/office/powerpoint/2010/main" val="39841502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6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6FC433-D8DC-4010-E909-C79241349C2C}"/>
              </a:ext>
            </a:extLst>
          </p:cNvPr>
          <p:cNvSpPr txBox="1">
            <a:spLocks/>
          </p:cNvSpPr>
          <p:nvPr/>
        </p:nvSpPr>
        <p:spPr>
          <a:xfrm>
            <a:off x="25200" y="25200"/>
            <a:ext cx="11185451" cy="63353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l-SI" sz="3000" b="1" dirty="0">
                <a:latin typeface="Public Sans SemiBold" pitchFamily="2" charset="77"/>
              </a:rPr>
              <a:t>Poizvedba </a:t>
            </a:r>
            <a:r>
              <a:rPr lang="en-SI" sz="3000" b="1">
                <a:latin typeface="Public Sans SemiBold" pitchFamily="2" charset="77"/>
              </a:rPr>
              <a:t>SPARQL</a:t>
            </a:r>
            <a:r>
              <a:rPr lang="sl-SI" sz="3000" b="1" dirty="0">
                <a:latin typeface="Public Sans SemiBold" pitchFamily="2" charset="77"/>
              </a:rPr>
              <a:t> </a:t>
            </a:r>
            <a:r>
              <a:rPr lang="en-GB" sz="3000" b="1" dirty="0">
                <a:latin typeface="Public Sans SemiBold" pitchFamily="2" charset="77"/>
              </a:rPr>
              <a:t>– HAVING</a:t>
            </a:r>
          </a:p>
          <a:p>
            <a:pPr marL="0" indent="0">
              <a:buNone/>
            </a:pPr>
            <a:endParaRPr lang="en-GB" sz="3000" b="1" dirty="0">
              <a:latin typeface="Public Sans SemiBold" pitchFamily="2" charset="77"/>
            </a:endParaRPr>
          </a:p>
          <a:p>
            <a:pPr marL="0" indent="0">
              <a:buNone/>
            </a:pPr>
            <a:endParaRPr lang="en-SI" sz="3000" b="1" dirty="0">
              <a:latin typeface="Public Sans SemiBold" pitchFamily="2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0E87BC-38C9-503B-2144-0CDDB3D2CCEF}"/>
              </a:ext>
            </a:extLst>
          </p:cNvPr>
          <p:cNvSpPr txBox="1"/>
          <p:nvPr/>
        </p:nvSpPr>
        <p:spPr>
          <a:xfrm>
            <a:off x="195820" y="530877"/>
            <a:ext cx="11014831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rdf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: &lt;http://www.w3.org/1999/02/22-rdf-syntax-ns#&gt;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dbp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: &lt;http://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/property/&gt;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PREFIX 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dbo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: &lt;http://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dbpedia.org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/ontology/&gt;</a:t>
            </a:r>
          </a:p>
          <a:p>
            <a:endParaRPr lang="en-GB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SELECT ?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countryName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(COUNT(DISTINCT ?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carCompanyName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) AS ?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carCompanyNameCount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) (GROUP_CONCAT(?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carCompanyName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) as ?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carCompanyNames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endParaRPr lang="en-GB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WHERE {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   ?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rdfs:label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?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carCompanyName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.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   ?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dbo:industry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dbr:Automotive_industry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.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   ?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dbp:locationCountry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?country .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   ?country 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rdfs:label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?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countryName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. 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   FILTER (LANG(?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carCompanyName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)="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en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" AND  </a:t>
            </a:r>
            <a:b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    LANG(?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countryName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)="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en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")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GROUP BY ?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countryName</a:t>
            </a:r>
            <a:endParaRPr lang="en-GB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HAVING (COUNT(?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carCompanyName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) &gt; 5)</a:t>
            </a:r>
          </a:p>
          <a:p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ORDER BY DESC (?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carCompanyNameCount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DF8474-DC58-F62A-BC54-E4A6BDF19EFF}"/>
              </a:ext>
            </a:extLst>
          </p:cNvPr>
          <p:cNvSpPr/>
          <p:nvPr/>
        </p:nvSpPr>
        <p:spPr>
          <a:xfrm>
            <a:off x="195820" y="5442872"/>
            <a:ext cx="10923284" cy="388694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I"/>
          </a:p>
        </p:txBody>
      </p:sp>
    </p:spTree>
    <p:extLst>
      <p:ext uri="{BB962C8B-B14F-4D97-AF65-F5344CB8AC3E}">
        <p14:creationId xmlns:p14="http://schemas.microsoft.com/office/powerpoint/2010/main" val="32579471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6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6FC433-D8DC-4010-E909-C79241349C2C}"/>
              </a:ext>
            </a:extLst>
          </p:cNvPr>
          <p:cNvSpPr txBox="1">
            <a:spLocks/>
          </p:cNvSpPr>
          <p:nvPr/>
        </p:nvSpPr>
        <p:spPr>
          <a:xfrm>
            <a:off x="166714" y="286457"/>
            <a:ext cx="11185451" cy="63353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SI" sz="3000" b="1" dirty="0">
                <a:latin typeface="Public Sans SemiBold" pitchFamily="2" charset="77"/>
              </a:rPr>
              <a:t>SPARQL </a:t>
            </a:r>
            <a:r>
              <a:rPr lang="en-SI" sz="3000" b="1">
                <a:latin typeface="Public Sans SemiBold" pitchFamily="2" charset="77"/>
              </a:rPr>
              <a:t>– </a:t>
            </a:r>
            <a:r>
              <a:rPr lang="sl-SI" sz="3000" b="1" dirty="0">
                <a:latin typeface="Public Sans SemiBold" pitchFamily="2" charset="77"/>
              </a:rPr>
              <a:t>ostale funkcionalnosti</a:t>
            </a:r>
            <a:endParaRPr lang="en-SI" sz="3000" b="1" dirty="0">
              <a:latin typeface="Public Sans SemiBold" pitchFamily="2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0E87BC-38C9-503B-2144-0CDDB3D2CCEF}"/>
              </a:ext>
            </a:extLst>
          </p:cNvPr>
          <p:cNvSpPr txBox="1"/>
          <p:nvPr/>
        </p:nvSpPr>
        <p:spPr>
          <a:xfrm>
            <a:off x="1199484" y="2504535"/>
            <a:ext cx="7143764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>
                <a:latin typeface="Poppins" pitchFamily="2" charset="77"/>
                <a:cs typeface="Poppins" pitchFamily="2" charset="77"/>
              </a:rPr>
              <a:t>SPARQL 1.1</a:t>
            </a:r>
          </a:p>
          <a:p>
            <a:pPr lvl="1"/>
            <a:r>
              <a:rPr lang="en-GB" sz="2000" dirty="0">
                <a:latin typeface="Poppins" pitchFamily="2" charset="77"/>
                <a:cs typeface="Poppins" pitchFamily="2" charset="77"/>
              </a:rPr>
              <a:t>SELECT, CONSTRUCT, INSERT DATA, ASK, DESCRIBE</a:t>
            </a:r>
          </a:p>
          <a:p>
            <a:pPr lvl="1"/>
            <a:r>
              <a:rPr lang="en-GB" sz="2000" dirty="0" err="1">
                <a:latin typeface="Poppins" pitchFamily="2" charset="77"/>
                <a:cs typeface="Poppins" pitchFamily="2" charset="77"/>
              </a:rPr>
              <a:t>Zahtevnejši</a:t>
            </a:r>
            <a:r>
              <a:rPr lang="en-GB" sz="2000" dirty="0">
                <a:latin typeface="Poppins" pitchFamily="2" charset="77"/>
                <a:cs typeface="Poppins" pitchFamily="2" charset="77"/>
              </a:rPr>
              <a:t> </a:t>
            </a:r>
            <a:r>
              <a:rPr lang="en-GB" sz="2000" dirty="0" err="1">
                <a:latin typeface="Poppins" pitchFamily="2" charset="77"/>
                <a:cs typeface="Poppins" pitchFamily="2" charset="77"/>
              </a:rPr>
              <a:t>vzorci</a:t>
            </a:r>
            <a:endParaRPr lang="en-GB" sz="2000" dirty="0">
              <a:latin typeface="Poppins" pitchFamily="2" charset="77"/>
              <a:cs typeface="Poppins" pitchFamily="2" charset="77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GB" sz="2000" dirty="0">
              <a:latin typeface="Poppins" pitchFamily="2" charset="77"/>
              <a:cs typeface="Poppins" pitchFamily="2" charset="77"/>
            </a:endParaRPr>
          </a:p>
          <a:p>
            <a:r>
              <a:rPr lang="en-GB" sz="2000" dirty="0">
                <a:latin typeface="Poppins" pitchFamily="2" charset="77"/>
                <a:cs typeface="Poppins" pitchFamily="2" charset="77"/>
              </a:rPr>
              <a:t>SHACL</a:t>
            </a:r>
          </a:p>
        </p:txBody>
      </p:sp>
    </p:spTree>
    <p:extLst>
      <p:ext uri="{BB962C8B-B14F-4D97-AF65-F5344CB8AC3E}">
        <p14:creationId xmlns:p14="http://schemas.microsoft.com/office/powerpoint/2010/main" val="369700072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6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BF268C-2449-4F88-6B28-B2BDEE033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CA22901-034F-CE13-DFF8-B3A94BB4CA3D}"/>
              </a:ext>
            </a:extLst>
          </p:cNvPr>
          <p:cNvSpPr txBox="1">
            <a:spLocks/>
          </p:cNvSpPr>
          <p:nvPr/>
        </p:nvSpPr>
        <p:spPr>
          <a:xfrm>
            <a:off x="166714" y="286457"/>
            <a:ext cx="11185451" cy="63353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SI" sz="3000" b="1">
                <a:latin typeface="Public Sans SemiBold" pitchFamily="2" charset="77"/>
              </a:rPr>
              <a:t>SPARQL </a:t>
            </a:r>
            <a:r>
              <a:rPr lang="sl-SI" sz="3000" b="1" dirty="0">
                <a:latin typeface="Public Sans SemiBold" pitchFamily="2" charset="77"/>
              </a:rPr>
              <a:t>in Python</a:t>
            </a:r>
            <a:endParaRPr lang="en-SI" sz="3000" b="1" dirty="0">
              <a:latin typeface="Public Sans SemiBold" pitchFamily="2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29487D-5FDC-6F0A-F0F6-C971B1728DD9}"/>
              </a:ext>
            </a:extLst>
          </p:cNvPr>
          <p:cNvSpPr txBox="1"/>
          <p:nvPr/>
        </p:nvSpPr>
        <p:spPr>
          <a:xfrm>
            <a:off x="1199484" y="2504535"/>
            <a:ext cx="714376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 err="1">
                <a:latin typeface="Poppins" pitchFamily="2" charset="77"/>
                <a:cs typeface="Poppins" pitchFamily="2" charset="77"/>
              </a:rPr>
              <a:t>Glej</a:t>
            </a:r>
            <a:r>
              <a:rPr lang="en-GB" sz="2000" dirty="0">
                <a:latin typeface="Poppins" pitchFamily="2" charset="77"/>
                <a:cs typeface="Poppins" pitchFamily="2" charset="77"/>
              </a:rPr>
              <a:t> </a:t>
            </a:r>
            <a:r>
              <a:rPr lang="en-GB" sz="2000" dirty="0" err="1">
                <a:latin typeface="Poppins" pitchFamily="2" charset="77"/>
                <a:cs typeface="Poppins" pitchFamily="2" charset="77"/>
              </a:rPr>
              <a:t>datoteko</a:t>
            </a:r>
            <a:r>
              <a:rPr lang="en-GB" sz="2000" dirty="0">
                <a:latin typeface="Poppins" pitchFamily="2" charset="77"/>
                <a:cs typeface="Poppins" pitchFamily="2" charset="77"/>
              </a:rPr>
              <a:t> 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./assets/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SPARQL_in_Python.ipynb</a:t>
            </a:r>
            <a:endParaRPr lang="en-GB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1953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6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F55A3B-0AA1-180B-8DF7-ED25B55EA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BC47336-CB77-3DC3-C0AF-3F31F34E6D15}"/>
              </a:ext>
            </a:extLst>
          </p:cNvPr>
          <p:cNvSpPr txBox="1">
            <a:spLocks/>
          </p:cNvSpPr>
          <p:nvPr/>
        </p:nvSpPr>
        <p:spPr>
          <a:xfrm>
            <a:off x="166714" y="286457"/>
            <a:ext cx="11185451" cy="63353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l-SI" sz="3000" b="1" dirty="0">
                <a:latin typeface="Public Sans SemiBold" pitchFamily="2" charset="77"/>
              </a:rPr>
              <a:t>Uporaba lastne baze s SPARQL</a:t>
            </a:r>
            <a:endParaRPr lang="en-SI" sz="3000" b="1" dirty="0">
              <a:latin typeface="Public Sans SemiBold" pitchFamily="2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629858-556C-4D5A-E42A-918B735760F4}"/>
              </a:ext>
            </a:extLst>
          </p:cNvPr>
          <p:cNvSpPr txBox="1"/>
          <p:nvPr/>
        </p:nvSpPr>
        <p:spPr>
          <a:xfrm>
            <a:off x="361284" y="3233878"/>
            <a:ext cx="10012802" cy="218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 err="1">
                <a:latin typeface="Poppins" pitchFamily="2" charset="77"/>
                <a:cs typeface="Poppins" pitchFamily="2" charset="77"/>
              </a:rPr>
              <a:t>GraphDB</a:t>
            </a:r>
            <a:endParaRPr lang="en-GB" sz="2000" dirty="0">
              <a:latin typeface="Poppins" pitchFamily="2" charset="77"/>
              <a:cs typeface="Poppins" pitchFamily="2" charset="77"/>
            </a:endParaRPr>
          </a:p>
          <a:p>
            <a:endParaRPr lang="en-GB" sz="2000" dirty="0">
              <a:latin typeface="Poppins" pitchFamily="2" charset="77"/>
              <a:cs typeface="Poppins" pitchFamily="2" charset="77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docker run -p 127.0.0.1:7200:7200 --name graphdb-instance-name-11 -t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ontotext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/graphdb:11.2.1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2000" dirty="0" err="1">
                <a:latin typeface="Poppins" pitchFamily="2" charset="77"/>
                <a:cs typeface="Poppins" pitchFamily="2" charset="77"/>
              </a:rPr>
              <a:t>Federirane</a:t>
            </a:r>
            <a:r>
              <a:rPr lang="en-GB" sz="2000" dirty="0">
                <a:latin typeface="Poppins" pitchFamily="2" charset="77"/>
                <a:cs typeface="Poppins" pitchFamily="2" charset="77"/>
              </a:rPr>
              <a:t> </a:t>
            </a:r>
            <a:r>
              <a:rPr lang="en-GB" sz="2000" dirty="0" err="1">
                <a:latin typeface="Poppins" pitchFamily="2" charset="77"/>
                <a:cs typeface="Poppins" pitchFamily="2" charset="77"/>
              </a:rPr>
              <a:t>poizvedbe</a:t>
            </a:r>
            <a:endParaRPr lang="en-GB" sz="2000" dirty="0">
              <a:latin typeface="Poppins" pitchFamily="2" charset="77"/>
              <a:cs typeface="Poppins" pitchFamily="2" charset="77"/>
            </a:endParaRP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GB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229287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6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DF3E42-4FD1-03C9-BB00-2CF9DCF8A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FF4E435-1B60-72F0-8E17-7D16DFA4688D}"/>
              </a:ext>
            </a:extLst>
          </p:cNvPr>
          <p:cNvSpPr txBox="1">
            <a:spLocks/>
          </p:cNvSpPr>
          <p:nvPr/>
        </p:nvSpPr>
        <p:spPr>
          <a:xfrm>
            <a:off x="166714" y="286457"/>
            <a:ext cx="11185451" cy="63353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l-SI" sz="3000" b="1" dirty="0">
                <a:latin typeface="Public Sans SemiBold" pitchFamily="2" charset="77"/>
              </a:rPr>
              <a:t>Sklepanje: prehod od podatkov k znanju</a:t>
            </a:r>
            <a:endParaRPr lang="en-SI" sz="3000" b="1" dirty="0">
              <a:latin typeface="Public Sans SemiBold" pitchFamily="2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847D16-6A37-E2DE-14F1-2FE2F1EFD4C0}"/>
              </a:ext>
            </a:extLst>
          </p:cNvPr>
          <p:cNvSpPr txBox="1"/>
          <p:nvPr/>
        </p:nvSpPr>
        <p:spPr>
          <a:xfrm>
            <a:off x="361284" y="3233878"/>
            <a:ext cx="1001280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 err="1">
                <a:latin typeface="Poppins" pitchFamily="2" charset="77"/>
                <a:cs typeface="Poppins" pitchFamily="2" charset="77"/>
              </a:rPr>
              <a:t>Uporaba</a:t>
            </a:r>
            <a:r>
              <a:rPr lang="en-GB" sz="2000" dirty="0">
                <a:latin typeface="Poppins" pitchFamily="2" charset="77"/>
                <a:cs typeface="Poppins" pitchFamily="2" charset="77"/>
              </a:rPr>
              <a:t> </a:t>
            </a:r>
            <a:r>
              <a:rPr lang="en-GB" sz="2000" dirty="0" err="1">
                <a:latin typeface="Poppins" pitchFamily="2" charset="77"/>
                <a:cs typeface="Poppins" pitchFamily="2" charset="77"/>
              </a:rPr>
              <a:t>več</a:t>
            </a:r>
            <a:r>
              <a:rPr lang="en-GB" sz="2000" dirty="0">
                <a:latin typeface="Poppins" pitchFamily="2" charset="77"/>
                <a:cs typeface="Poppins" pitchFamily="2" charset="77"/>
              </a:rPr>
              <a:t> </a:t>
            </a:r>
            <a:r>
              <a:rPr lang="en-GB" sz="2000" dirty="0" err="1">
                <a:latin typeface="Poppins" pitchFamily="2" charset="77"/>
                <a:cs typeface="Poppins" pitchFamily="2" charset="77"/>
              </a:rPr>
              <a:t>podatkovnih</a:t>
            </a:r>
            <a:r>
              <a:rPr lang="en-GB" sz="2000" dirty="0">
                <a:latin typeface="Poppins" pitchFamily="2" charset="77"/>
                <a:cs typeface="Poppins" pitchFamily="2" charset="77"/>
              </a:rPr>
              <a:t> </a:t>
            </a:r>
            <a:r>
              <a:rPr lang="en-GB" sz="2000" dirty="0" err="1">
                <a:latin typeface="Poppins" pitchFamily="2" charset="77"/>
                <a:cs typeface="Poppins" pitchFamily="2" charset="77"/>
              </a:rPr>
              <a:t>virov</a:t>
            </a:r>
            <a:r>
              <a:rPr lang="en-GB" sz="2000" dirty="0">
                <a:latin typeface="Poppins" pitchFamily="2" charset="77"/>
                <a:cs typeface="Poppins" pitchFamily="2" charset="77"/>
              </a:rPr>
              <a:t> in </a:t>
            </a:r>
            <a:r>
              <a:rPr lang="en-GB" sz="2000" dirty="0" err="1">
                <a:latin typeface="Poppins" pitchFamily="2" charset="77"/>
                <a:cs typeface="Poppins" pitchFamily="2" charset="77"/>
              </a:rPr>
              <a:t>materializacija</a:t>
            </a:r>
            <a:r>
              <a:rPr lang="en-GB" sz="2000" dirty="0">
                <a:latin typeface="Poppins" pitchFamily="2" charset="77"/>
                <a:cs typeface="Poppins" pitchFamily="2" charset="77"/>
              </a:rPr>
              <a:t> - SURS in CRP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GB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2963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ova tema">
  <a:themeElements>
    <a:clrScheme name="Pisarn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isarna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isarn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3002</TotalTime>
  <Words>2680</Words>
  <Application>Microsoft Macintosh PowerPoint</Application>
  <PresentationFormat>Widescreen</PresentationFormat>
  <Paragraphs>457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2" baseType="lpstr">
      <vt:lpstr>Arial</vt:lpstr>
      <vt:lpstr>Calibri</vt:lpstr>
      <vt:lpstr>Consolas</vt:lpstr>
      <vt:lpstr>Courier New</vt:lpstr>
      <vt:lpstr>Poppins</vt:lpstr>
      <vt:lpstr>Public Sans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David Pihler</dc:creator>
  <cp:lastModifiedBy>Žitnik, Slavko</cp:lastModifiedBy>
  <cp:revision>35</cp:revision>
  <dcterms:created xsi:type="dcterms:W3CDTF">2023-02-28T20:54:24Z</dcterms:created>
  <dcterms:modified xsi:type="dcterms:W3CDTF">2026-02-11T23:31:38Z</dcterms:modified>
</cp:coreProperties>
</file>